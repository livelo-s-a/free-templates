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3.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5"/>
  </p:notesMasterIdLst>
  <p:handoutMasterIdLst>
    <p:handoutMasterId r:id="rId6"/>
  </p:handoutMasterIdLst>
  <p:sldIdLst>
    <p:sldId id="256" r:id="rId2"/>
    <p:sldId id="257" r:id="rId3"/>
    <p:sldId id="258" r:id="rId4"/>
  </p:sldIdLst>
  <p:sldSz cx="6858000" cy="9906000" type="A4"/>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A8C"/>
    <a:srgbClr val="04062C"/>
    <a:srgbClr val="0A0A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E91FA1-60B9-4F7B-B2FD-02FD3E0E2B86}" v="649" dt="2025-05-03T00:32:58.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86" autoAdjust="0"/>
    <p:restoredTop sz="94660"/>
  </p:normalViewPr>
  <p:slideViewPr>
    <p:cSldViewPr snapToGrid="0">
      <p:cViewPr varScale="1">
        <p:scale>
          <a:sx n="69" d="100"/>
          <a:sy n="69" d="100"/>
        </p:scale>
        <p:origin x="3384" y="288"/>
      </p:cViewPr>
      <p:guideLst/>
    </p:cSldViewPr>
  </p:slideViewPr>
  <p:notesTextViewPr>
    <p:cViewPr>
      <p:scale>
        <a:sx n="3" d="2"/>
        <a:sy n="3" d="2"/>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5/10/relationships/revisionInfo" Target="revisionInfo.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r>
              <a:rPr lang="en-US" sz="1200" b="1" dirty="0">
                <a:solidFill>
                  <a:schemeClr val="tx1"/>
                </a:solidFill>
              </a:rPr>
              <a:t>Q4-2024</a:t>
            </a: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endParaRPr lang="pt-BR"/>
        </a:p>
      </c:txPr>
    </c:title>
    <c:autoTitleDeleted val="0"/>
    <c:plotArea>
      <c:layout>
        <c:manualLayout>
          <c:layoutTarget val="inner"/>
          <c:xMode val="edge"/>
          <c:yMode val="edge"/>
          <c:x val="0.29166240854745745"/>
          <c:y val="0.21069928450661224"/>
          <c:w val="0.4166751829050851"/>
          <c:h val="0.6250127743576277"/>
        </c:manualLayout>
      </c:layout>
      <c:doughnutChart>
        <c:varyColors val="1"/>
        <c:ser>
          <c:idx val="0"/>
          <c:order val="0"/>
          <c:tx>
            <c:strRef>
              <c:f>Planilha1!$B$1:$B$1</c:f>
              <c:strCache>
                <c:ptCount val="1"/>
                <c:pt idx="0">
                  <c:v>Scores</c:v>
                </c:pt>
              </c:strCache>
            </c:strRef>
          </c:tx>
          <c:spPr>
            <a:effectLst>
              <a:outerShdw blurRad="12700" algn="ctr" rotWithShape="0">
                <a:prstClr val="black">
                  <a:alpha val="40000"/>
                </a:prstClr>
              </a:outerShdw>
            </a:effectLst>
          </c:spPr>
          <c:dPt>
            <c:idx val="0"/>
            <c:bubble3D val="0"/>
            <c:spPr>
              <a:solidFill>
                <a:schemeClr val="bg1">
                  <a:lumMod val="75000"/>
                </a:schemeClr>
              </a:solidFill>
              <a:ln w="19050">
                <a:solidFill>
                  <a:schemeClr val="lt1"/>
                </a:solidFill>
              </a:ln>
              <a:effectLst>
                <a:outerShdw blurRad="12700" algn="ctr" rotWithShape="0">
                  <a:prstClr val="black">
                    <a:alpha val="40000"/>
                  </a:prstClr>
                </a:outerShdw>
              </a:effectLst>
            </c:spPr>
            <c:extLst>
              <c:ext xmlns:c16="http://schemas.microsoft.com/office/drawing/2014/chart" uri="{C3380CC4-5D6E-409C-BE32-E72D297353CC}">
                <c16:uniqueId val="{00000001-AB20-4BCC-9361-87FE4F037157}"/>
              </c:ext>
            </c:extLst>
          </c:dPt>
          <c:dPt>
            <c:idx val="1"/>
            <c:bubble3D val="0"/>
            <c:spPr>
              <a:solidFill>
                <a:srgbClr val="FF0A8C"/>
              </a:solidFill>
              <a:ln w="19050">
                <a:solidFill>
                  <a:schemeClr val="lt1"/>
                </a:solidFill>
              </a:ln>
              <a:effectLst>
                <a:outerShdw blurRad="12700" algn="ctr" rotWithShape="0">
                  <a:prstClr val="black">
                    <a:alpha val="40000"/>
                  </a:prstClr>
                </a:outerShdw>
              </a:effectLst>
            </c:spPr>
            <c:extLst>
              <c:ext xmlns:c16="http://schemas.microsoft.com/office/drawing/2014/chart" uri="{C3380CC4-5D6E-409C-BE32-E72D297353CC}">
                <c16:uniqueId val="{00000003-AB20-4BCC-9361-87FE4F037157}"/>
              </c:ext>
            </c:extLst>
          </c:dPt>
          <c:cat>
            <c:strRef>
              <c:f>Planilha1!$A$2:$A$3</c:f>
              <c:strCache>
                <c:ptCount val="2"/>
                <c:pt idx="0">
                  <c:v>Best Diff</c:v>
                </c:pt>
                <c:pt idx="1">
                  <c:v>Best</c:v>
                </c:pt>
              </c:strCache>
            </c:strRef>
          </c:cat>
          <c:val>
            <c:numRef>
              <c:f>Planilha1!$B$2:$B$3</c:f>
              <c:numCache>
                <c:formatCode>General</c:formatCode>
                <c:ptCount val="2"/>
                <c:pt idx="0">
                  <c:v>25</c:v>
                </c:pt>
                <c:pt idx="1">
                  <c:v>100</c:v>
                </c:pt>
              </c:numCache>
            </c:numRef>
          </c:val>
          <c:extLst>
            <c:ext xmlns:c16="http://schemas.microsoft.com/office/drawing/2014/chart" uri="{C3380CC4-5D6E-409C-BE32-E72D297353CC}">
              <c16:uniqueId val="{00000000-AB20-4BCC-9361-87FE4F037157}"/>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r>
              <a:rPr lang="en-US" sz="1200" b="1" dirty="0">
                <a:solidFill>
                  <a:schemeClr val="tx1"/>
                </a:solidFill>
              </a:rPr>
              <a:t>Q1-2025</a:t>
            </a:r>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n-lt"/>
              <a:ea typeface="+mn-ea"/>
              <a:cs typeface="+mn-cs"/>
            </a:defRPr>
          </a:pPr>
          <a:endParaRPr lang="pt-BR"/>
        </a:p>
      </c:txPr>
    </c:title>
    <c:autoTitleDeleted val="0"/>
    <c:plotArea>
      <c:layout>
        <c:manualLayout>
          <c:layoutTarget val="inner"/>
          <c:xMode val="edge"/>
          <c:yMode val="edge"/>
          <c:x val="0.29166240854745745"/>
          <c:y val="0.21069928450661224"/>
          <c:w val="0.4166751829050851"/>
          <c:h val="0.6250127743576277"/>
        </c:manualLayout>
      </c:layout>
      <c:doughnutChart>
        <c:varyColors val="1"/>
        <c:ser>
          <c:idx val="0"/>
          <c:order val="0"/>
          <c:tx>
            <c:strRef>
              <c:f>Planilha1!$B$1:$B$1</c:f>
              <c:strCache>
                <c:ptCount val="1"/>
                <c:pt idx="0">
                  <c:v>Scores</c:v>
                </c:pt>
              </c:strCache>
            </c:strRef>
          </c:tx>
          <c:spPr>
            <a:effectLst>
              <a:outerShdw blurRad="12700" algn="ctr" rotWithShape="0">
                <a:prstClr val="black">
                  <a:alpha val="40000"/>
                </a:prstClr>
              </a:outerShdw>
            </a:effectLst>
          </c:spPr>
          <c:dPt>
            <c:idx val="0"/>
            <c:bubble3D val="0"/>
            <c:spPr>
              <a:solidFill>
                <a:schemeClr val="bg1">
                  <a:lumMod val="75000"/>
                </a:schemeClr>
              </a:solidFill>
              <a:ln w="19050">
                <a:solidFill>
                  <a:schemeClr val="lt1"/>
                </a:solidFill>
              </a:ln>
              <a:effectLst>
                <a:outerShdw blurRad="12700" algn="ctr" rotWithShape="0">
                  <a:prstClr val="black">
                    <a:alpha val="40000"/>
                  </a:prstClr>
                </a:outerShdw>
              </a:effectLst>
            </c:spPr>
            <c:extLst>
              <c:ext xmlns:c16="http://schemas.microsoft.com/office/drawing/2014/chart" uri="{C3380CC4-5D6E-409C-BE32-E72D297353CC}">
                <c16:uniqueId val="{00000001-8ECA-46E5-8C22-B72D94544A95}"/>
              </c:ext>
            </c:extLst>
          </c:dPt>
          <c:dPt>
            <c:idx val="1"/>
            <c:bubble3D val="0"/>
            <c:spPr>
              <a:solidFill>
                <a:srgbClr val="FF0A8C"/>
              </a:solidFill>
              <a:ln w="19050">
                <a:solidFill>
                  <a:schemeClr val="lt1"/>
                </a:solidFill>
              </a:ln>
              <a:effectLst>
                <a:outerShdw blurRad="12700" algn="ctr" rotWithShape="0">
                  <a:prstClr val="black">
                    <a:alpha val="40000"/>
                  </a:prstClr>
                </a:outerShdw>
              </a:effectLst>
            </c:spPr>
            <c:extLst>
              <c:ext xmlns:c16="http://schemas.microsoft.com/office/drawing/2014/chart" uri="{C3380CC4-5D6E-409C-BE32-E72D297353CC}">
                <c16:uniqueId val="{00000003-8ECA-46E5-8C22-B72D94544A95}"/>
              </c:ext>
            </c:extLst>
          </c:dPt>
          <c:cat>
            <c:strRef>
              <c:f>Planilha1!$A$2:$A$3</c:f>
              <c:strCache>
                <c:ptCount val="2"/>
                <c:pt idx="0">
                  <c:v>Best Diff</c:v>
                </c:pt>
                <c:pt idx="1">
                  <c:v>Best</c:v>
                </c:pt>
              </c:strCache>
            </c:strRef>
          </c:cat>
          <c:val>
            <c:numRef>
              <c:f>Planilha1!$B$2:$B$3</c:f>
              <c:numCache>
                <c:formatCode>General</c:formatCode>
                <c:ptCount val="2"/>
                <c:pt idx="0">
                  <c:v>18</c:v>
                </c:pt>
                <c:pt idx="1">
                  <c:v>100</c:v>
                </c:pt>
              </c:numCache>
            </c:numRef>
          </c:val>
          <c:extLst>
            <c:ext xmlns:c16="http://schemas.microsoft.com/office/drawing/2014/chart" uri="{C3380CC4-5D6E-409C-BE32-E72D297353CC}">
              <c16:uniqueId val="{00000004-8ECA-46E5-8C22-B72D94544A95}"/>
            </c:ext>
          </c:extLst>
        </c:ser>
        <c:dLbls>
          <c:showLegendKey val="0"/>
          <c:showVal val="0"/>
          <c:showCatName val="0"/>
          <c:showSerName val="0"/>
          <c:showPercent val="0"/>
          <c:showBubbleSize val="0"/>
          <c:showLeaderLines val="1"/>
        </c:dLbls>
        <c:firstSliceAng val="0"/>
        <c:holeSize val="50"/>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Planilha1!$B$1</c:f>
              <c:strCache>
                <c:ptCount val="1"/>
                <c:pt idx="0">
                  <c:v>Option</c:v>
                </c:pt>
              </c:strCache>
            </c:strRef>
          </c:tx>
          <c:spPr>
            <a:effectLst>
              <a:outerShdw blurRad="12700" dir="2700000" algn="tl" rotWithShape="0">
                <a:prstClr val="black">
                  <a:alpha val="40000"/>
                </a:prstClr>
              </a:outerShdw>
            </a:effectLst>
          </c:spPr>
          <c:dPt>
            <c:idx val="0"/>
            <c:bubble3D val="0"/>
            <c:spPr>
              <a:solidFill>
                <a:srgbClr val="FF0A8C"/>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1-BCD2-4F09-9B10-8EAAFB3447A4}"/>
              </c:ext>
            </c:extLst>
          </c:dPt>
          <c:dPt>
            <c:idx val="1"/>
            <c:bubble3D val="0"/>
            <c:spPr>
              <a:solidFill>
                <a:schemeClr val="bg1">
                  <a:lumMod val="75000"/>
                </a:schemeClr>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2-BCD2-4F09-9B10-8EAAFB3447A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pt-BR"/>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Planilha1!$A$2:$A$3</c:f>
              <c:strCache>
                <c:ptCount val="2"/>
                <c:pt idx="0">
                  <c:v>Yes</c:v>
                </c:pt>
                <c:pt idx="1">
                  <c:v>No</c:v>
                </c:pt>
              </c:strCache>
            </c:strRef>
          </c:cat>
          <c:val>
            <c:numRef>
              <c:f>Planilha1!$B$2:$B$3</c:f>
              <c:numCache>
                <c:formatCode>General</c:formatCode>
                <c:ptCount val="2"/>
                <c:pt idx="0">
                  <c:v>200</c:v>
                </c:pt>
                <c:pt idx="1">
                  <c:v>150</c:v>
                </c:pt>
              </c:numCache>
            </c:numRef>
          </c:val>
          <c:extLst>
            <c:ext xmlns:c16="http://schemas.microsoft.com/office/drawing/2014/chart" uri="{C3380CC4-5D6E-409C-BE32-E72D297353CC}">
              <c16:uniqueId val="{00000000-BCD2-4F09-9B10-8EAAFB3447A4}"/>
            </c:ext>
          </c:extLst>
        </c:ser>
        <c:dLbls>
          <c:showLegendKey val="0"/>
          <c:showVal val="0"/>
          <c:showCatName val="0"/>
          <c:showSerName val="0"/>
          <c:showPercent val="0"/>
          <c:showBubbleSize val="0"/>
          <c:showLeaderLines val="1"/>
        </c:dLbls>
        <c:firstSliceAng val="0"/>
      </c:pieChart>
      <c:spPr>
        <a:noFill/>
        <a:ln>
          <a:noFill/>
        </a:ln>
        <a:effectLst/>
      </c:spPr>
    </c:plotArea>
    <c:legend>
      <c:legendPos val="l"/>
      <c:layout>
        <c:manualLayout>
          <c:xMode val="edge"/>
          <c:yMode val="edge"/>
          <c:x val="0.12590905892812598"/>
          <c:y val="0.37532626585876339"/>
          <c:w val="0.16996787999070631"/>
          <c:h val="0.2765665820656482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Planilha1!$B$1</c:f>
              <c:strCache>
                <c:ptCount val="1"/>
                <c:pt idx="0">
                  <c:v>Option</c:v>
                </c:pt>
              </c:strCache>
            </c:strRef>
          </c:tx>
          <c:spPr>
            <a:effectLst>
              <a:outerShdw blurRad="12700" dir="2700000" algn="tl" rotWithShape="0">
                <a:prstClr val="black">
                  <a:alpha val="40000"/>
                </a:prstClr>
              </a:outerShdw>
            </a:effectLst>
          </c:spPr>
          <c:dPt>
            <c:idx val="0"/>
            <c:bubble3D val="0"/>
            <c:spPr>
              <a:solidFill>
                <a:srgbClr val="FF0A8C"/>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1-0AC3-4882-9BEE-57019CB1159C}"/>
              </c:ext>
            </c:extLst>
          </c:dPt>
          <c:dPt>
            <c:idx val="1"/>
            <c:bubble3D val="0"/>
            <c:spPr>
              <a:solidFill>
                <a:schemeClr val="bg1">
                  <a:lumMod val="75000"/>
                </a:schemeClr>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3-0AC3-4882-9BEE-57019CB1159C}"/>
              </c:ext>
            </c:extLst>
          </c:dPt>
          <c:dPt>
            <c:idx val="2"/>
            <c:bubble3D val="0"/>
            <c:spPr>
              <a:solidFill>
                <a:schemeClr val="accent5">
                  <a:lumMod val="60000"/>
                  <a:lumOff val="40000"/>
                </a:schemeClr>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5-0AC3-4882-9BEE-57019CB1159C}"/>
              </c:ext>
            </c:extLst>
          </c:dPt>
          <c:dPt>
            <c:idx val="3"/>
            <c:bubble3D val="0"/>
            <c:spPr>
              <a:solidFill>
                <a:schemeClr val="accent4"/>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7-6B5E-4426-A32F-8184F759E23A}"/>
              </c:ext>
            </c:extLst>
          </c:dPt>
          <c:dPt>
            <c:idx val="4"/>
            <c:bubble3D val="0"/>
            <c:spPr>
              <a:solidFill>
                <a:schemeClr val="accent5"/>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9-6B5E-4426-A32F-8184F759E23A}"/>
              </c:ext>
            </c:extLst>
          </c:dPt>
          <c:dPt>
            <c:idx val="5"/>
            <c:bubble3D val="0"/>
            <c:spPr>
              <a:solidFill>
                <a:schemeClr val="accent6"/>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B-6B5E-4426-A32F-8184F759E23A}"/>
              </c:ext>
            </c:extLst>
          </c:dPt>
          <c:dPt>
            <c:idx val="6"/>
            <c:bubble3D val="0"/>
            <c:spPr>
              <a:solidFill>
                <a:schemeClr val="accent1">
                  <a:lumMod val="60000"/>
                </a:schemeClr>
              </a:solidFill>
              <a:ln w="19050">
                <a:solidFill>
                  <a:schemeClr val="lt1"/>
                </a:solidFill>
              </a:ln>
              <a:effectLst>
                <a:outerShdw blurRad="12700" dir="2700000" algn="tl" rotWithShape="0">
                  <a:prstClr val="black">
                    <a:alpha val="40000"/>
                  </a:prstClr>
                </a:outerShdw>
              </a:effectLst>
            </c:spPr>
            <c:extLst>
              <c:ext xmlns:c16="http://schemas.microsoft.com/office/drawing/2014/chart" uri="{C3380CC4-5D6E-409C-BE32-E72D297353CC}">
                <c16:uniqueId val="{0000000D-6B5E-4426-A32F-8184F759E23A}"/>
              </c:ext>
            </c:extLst>
          </c:dPt>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pt-BR"/>
              </a:p>
            </c:txPr>
            <c:dLblPos val="ctr"/>
            <c:showLegendKey val="0"/>
            <c:showVal val="0"/>
            <c:showCatName val="0"/>
            <c:showSerName val="0"/>
            <c:showPercent val="1"/>
            <c:showBubbleSize val="0"/>
            <c:separator>, </c:separator>
            <c:showLeaderLines val="0"/>
            <c:extLst>
              <c:ext xmlns:c15="http://schemas.microsoft.com/office/drawing/2012/chart" uri="{CE6537A1-D6FC-4f65-9D91-7224C49458BB}"/>
            </c:extLst>
          </c:dLbls>
          <c:cat>
            <c:strRef>
              <c:f>Planilha1!$A$2:$A$8</c:f>
              <c:strCache>
                <c:ptCount val="7"/>
                <c:pt idx="0">
                  <c:v>Digital Products</c:v>
                </c:pt>
                <c:pt idx="1">
                  <c:v>Infrastructure</c:v>
                </c:pt>
                <c:pt idx="2">
                  <c:v>Internal Platforms</c:v>
                </c:pt>
                <c:pt idx="3">
                  <c:v>Analytics</c:v>
                </c:pt>
                <c:pt idx="4">
                  <c:v>Enterprise Architecture</c:v>
                </c:pt>
                <c:pt idx="5">
                  <c:v>Data Platforms</c:v>
                </c:pt>
                <c:pt idx="6">
                  <c:v>Security</c:v>
                </c:pt>
              </c:strCache>
            </c:strRef>
          </c:cat>
          <c:val>
            <c:numRef>
              <c:f>Planilha1!$B$2:$B$8</c:f>
              <c:numCache>
                <c:formatCode>General</c:formatCode>
                <c:ptCount val="7"/>
                <c:pt idx="0">
                  <c:v>10</c:v>
                </c:pt>
                <c:pt idx="1">
                  <c:v>20</c:v>
                </c:pt>
                <c:pt idx="2">
                  <c:v>15</c:v>
                </c:pt>
                <c:pt idx="3">
                  <c:v>10</c:v>
                </c:pt>
                <c:pt idx="4">
                  <c:v>5</c:v>
                </c:pt>
                <c:pt idx="5">
                  <c:v>10</c:v>
                </c:pt>
                <c:pt idx="6">
                  <c:v>5</c:v>
                </c:pt>
              </c:numCache>
            </c:numRef>
          </c:val>
          <c:extLst>
            <c:ext xmlns:c16="http://schemas.microsoft.com/office/drawing/2014/chart" uri="{C3380CC4-5D6E-409C-BE32-E72D297353CC}">
              <c16:uniqueId val="{00000004-0AC3-4882-9BEE-57019CB1159C}"/>
            </c:ext>
          </c:extLst>
        </c:ser>
        <c:dLbls>
          <c:dLblPos val="ctr"/>
          <c:showLegendKey val="0"/>
          <c:showVal val="1"/>
          <c:showCatName val="0"/>
          <c:showSerName val="0"/>
          <c:showPercent val="0"/>
          <c:showBubbleSize val="0"/>
          <c:showLeaderLines val="0"/>
        </c:dLbls>
        <c:firstSliceAng val="0"/>
      </c:pieChart>
      <c:spPr>
        <a:noFill/>
        <a:ln>
          <a:noFill/>
        </a:ln>
        <a:effectLst/>
      </c:spPr>
    </c:plotArea>
    <c:legend>
      <c:legendPos val="l"/>
      <c:layout>
        <c:manualLayout>
          <c:xMode val="edge"/>
          <c:yMode val="edge"/>
          <c:x val="9.0099197797890475E-3"/>
          <c:y val="0.13205846515661832"/>
          <c:w val="0.4177406739349051"/>
          <c:h val="0.77661712984394038"/>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Planilha1!$B$1</c:f>
              <c:strCache>
                <c:ptCount val="1"/>
                <c:pt idx="0">
                  <c:v>Q4-2024</c:v>
                </c:pt>
              </c:strCache>
            </c:strRef>
          </c:tx>
          <c:spPr>
            <a:solidFill>
              <a:schemeClr val="tx1">
                <a:lumMod val="65000"/>
                <a:lumOff val="35000"/>
              </a:schemeClr>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Planilha1!$A$2:$A$8</c:f>
              <c:strCache>
                <c:ptCount val="7"/>
                <c:pt idx="0">
                  <c:v>Digital Products</c:v>
                </c:pt>
                <c:pt idx="1">
                  <c:v>Infrastructure</c:v>
                </c:pt>
                <c:pt idx="2">
                  <c:v>Internal Platforms</c:v>
                </c:pt>
                <c:pt idx="3">
                  <c:v>Analytics</c:v>
                </c:pt>
                <c:pt idx="4">
                  <c:v>Enterprise Architecture</c:v>
                </c:pt>
                <c:pt idx="5">
                  <c:v>Data Platforms</c:v>
                </c:pt>
                <c:pt idx="6">
                  <c:v>Security</c:v>
                </c:pt>
              </c:strCache>
            </c:strRef>
          </c:cat>
          <c:val>
            <c:numRef>
              <c:f>Planilha1!$B$2:$B$8</c:f>
              <c:numCache>
                <c:formatCode>General</c:formatCode>
                <c:ptCount val="7"/>
                <c:pt idx="0">
                  <c:v>8.1999999999999993</c:v>
                </c:pt>
                <c:pt idx="1">
                  <c:v>8.1</c:v>
                </c:pt>
                <c:pt idx="2">
                  <c:v>8.4</c:v>
                </c:pt>
                <c:pt idx="3">
                  <c:v>7.1</c:v>
                </c:pt>
                <c:pt idx="4">
                  <c:v>6.9</c:v>
                </c:pt>
                <c:pt idx="5">
                  <c:v>6.4</c:v>
                </c:pt>
                <c:pt idx="6">
                  <c:v>7.2</c:v>
                </c:pt>
              </c:numCache>
            </c:numRef>
          </c:val>
          <c:extLst>
            <c:ext xmlns:c16="http://schemas.microsoft.com/office/drawing/2014/chart" uri="{C3380CC4-5D6E-409C-BE32-E72D297353CC}">
              <c16:uniqueId val="{0000000E-242E-43E7-A184-CA5042BD49D6}"/>
            </c:ext>
          </c:extLst>
        </c:ser>
        <c:ser>
          <c:idx val="1"/>
          <c:order val="1"/>
          <c:tx>
            <c:strRef>
              <c:f>Planilha1!$C$1</c:f>
              <c:strCache>
                <c:ptCount val="1"/>
                <c:pt idx="0">
                  <c:v>Q1-2025</c:v>
                </c:pt>
              </c:strCache>
            </c:strRef>
          </c:tx>
          <c:spPr>
            <a:solidFill>
              <a:srgbClr val="FF0A8C"/>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Planilha1!$A$2:$A$8</c:f>
              <c:strCache>
                <c:ptCount val="7"/>
                <c:pt idx="0">
                  <c:v>Digital Products</c:v>
                </c:pt>
                <c:pt idx="1">
                  <c:v>Infrastructure</c:v>
                </c:pt>
                <c:pt idx="2">
                  <c:v>Internal Platforms</c:v>
                </c:pt>
                <c:pt idx="3">
                  <c:v>Analytics</c:v>
                </c:pt>
                <c:pt idx="4">
                  <c:v>Enterprise Architecture</c:v>
                </c:pt>
                <c:pt idx="5">
                  <c:v>Data Platforms</c:v>
                </c:pt>
                <c:pt idx="6">
                  <c:v>Security</c:v>
                </c:pt>
              </c:strCache>
            </c:strRef>
          </c:cat>
          <c:val>
            <c:numRef>
              <c:f>Planilha1!$C$2:$C$8</c:f>
              <c:numCache>
                <c:formatCode>General</c:formatCode>
                <c:ptCount val="7"/>
                <c:pt idx="0">
                  <c:v>7.7</c:v>
                </c:pt>
                <c:pt idx="1">
                  <c:v>8.1</c:v>
                </c:pt>
                <c:pt idx="2">
                  <c:v>8.6</c:v>
                </c:pt>
                <c:pt idx="3">
                  <c:v>7.9</c:v>
                </c:pt>
                <c:pt idx="4">
                  <c:v>8.5</c:v>
                </c:pt>
                <c:pt idx="5">
                  <c:v>7.6</c:v>
                </c:pt>
                <c:pt idx="6">
                  <c:v>8.8000000000000007</c:v>
                </c:pt>
              </c:numCache>
            </c:numRef>
          </c:val>
          <c:extLst>
            <c:ext xmlns:c16="http://schemas.microsoft.com/office/drawing/2014/chart" uri="{C3380CC4-5D6E-409C-BE32-E72D297353CC}">
              <c16:uniqueId val="{0000000F-242E-43E7-A184-CA5042BD49D6}"/>
            </c:ext>
          </c:extLst>
        </c:ser>
        <c:dLbls>
          <c:dLblPos val="outEnd"/>
          <c:showLegendKey val="0"/>
          <c:showVal val="1"/>
          <c:showCatName val="0"/>
          <c:showSerName val="0"/>
          <c:showPercent val="0"/>
          <c:showBubbleSize val="0"/>
        </c:dLbls>
        <c:gapWidth val="100"/>
        <c:axId val="1193047056"/>
        <c:axId val="1193047536"/>
      </c:barChart>
      <c:catAx>
        <c:axId val="119304705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pt-BR"/>
          </a:p>
        </c:txPr>
        <c:crossAx val="1193047536"/>
        <c:crosses val="autoZero"/>
        <c:auto val="1"/>
        <c:lblAlgn val="ctr"/>
        <c:lblOffset val="100"/>
        <c:noMultiLvlLbl val="0"/>
      </c:catAx>
      <c:valAx>
        <c:axId val="119304753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193047056"/>
        <c:crosses val="autoZero"/>
        <c:crossBetween val="between"/>
      </c:valAx>
      <c:spPr>
        <a:noFill/>
        <a:ln>
          <a:noFill/>
        </a:ln>
        <a:effectLst/>
      </c:spPr>
    </c:plotArea>
    <c:legend>
      <c:legendPos val="b"/>
      <c:layout>
        <c:manualLayout>
          <c:xMode val="edge"/>
          <c:yMode val="edge"/>
          <c:x val="0.29052628218430249"/>
          <c:y val="0.84398093549696362"/>
          <c:w val="0.41894743563139497"/>
          <c:h val="9.523396996546257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Planilha1!$B$1</c:f>
              <c:strCache>
                <c:ptCount val="1"/>
                <c:pt idx="0">
                  <c:v>Q4-2024</c:v>
                </c:pt>
              </c:strCache>
            </c:strRef>
          </c:tx>
          <c:spPr>
            <a:solidFill>
              <a:schemeClr val="tx1">
                <a:lumMod val="65000"/>
                <a:lumOff val="35000"/>
              </a:schemeClr>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Planilha1!$B$2:$B$12</c:f>
              <c:numCache>
                <c:formatCode>General</c:formatCode>
                <c:ptCount val="11"/>
                <c:pt idx="0">
                  <c:v>20</c:v>
                </c:pt>
                <c:pt idx="1">
                  <c:v>30</c:v>
                </c:pt>
                <c:pt idx="2">
                  <c:v>40</c:v>
                </c:pt>
                <c:pt idx="3">
                  <c:v>50</c:v>
                </c:pt>
                <c:pt idx="4">
                  <c:v>45</c:v>
                </c:pt>
                <c:pt idx="5">
                  <c:v>33</c:v>
                </c:pt>
                <c:pt idx="6">
                  <c:v>22</c:v>
                </c:pt>
                <c:pt idx="7">
                  <c:v>10</c:v>
                </c:pt>
                <c:pt idx="8">
                  <c:v>15</c:v>
                </c:pt>
                <c:pt idx="9">
                  <c:v>40</c:v>
                </c:pt>
                <c:pt idx="10">
                  <c:v>24</c:v>
                </c:pt>
              </c:numCache>
            </c:numRef>
          </c:val>
          <c:extLst>
            <c:ext xmlns:c16="http://schemas.microsoft.com/office/drawing/2014/chart" uri="{C3380CC4-5D6E-409C-BE32-E72D297353CC}">
              <c16:uniqueId val="{00000000-D524-4C3A-AB2F-A7161163E01A}"/>
            </c:ext>
          </c:extLst>
        </c:ser>
        <c:ser>
          <c:idx val="1"/>
          <c:order val="1"/>
          <c:tx>
            <c:strRef>
              <c:f>Planilha1!$C$1</c:f>
              <c:strCache>
                <c:ptCount val="1"/>
                <c:pt idx="0">
                  <c:v>Q1-2025</c:v>
                </c:pt>
              </c:strCache>
            </c:strRef>
          </c:tx>
          <c:spPr>
            <a:solidFill>
              <a:srgbClr val="FF0A8C"/>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Planilha1!$A$2:$A$12</c:f>
              <c:numCache>
                <c:formatCode>General</c:formatCode>
                <c:ptCount val="11"/>
                <c:pt idx="0">
                  <c:v>0</c:v>
                </c:pt>
                <c:pt idx="1">
                  <c:v>1</c:v>
                </c:pt>
                <c:pt idx="2">
                  <c:v>2</c:v>
                </c:pt>
                <c:pt idx="3">
                  <c:v>3</c:v>
                </c:pt>
                <c:pt idx="4">
                  <c:v>4</c:v>
                </c:pt>
                <c:pt idx="5">
                  <c:v>5</c:v>
                </c:pt>
                <c:pt idx="6">
                  <c:v>6</c:v>
                </c:pt>
                <c:pt idx="7">
                  <c:v>7</c:v>
                </c:pt>
                <c:pt idx="8">
                  <c:v>8</c:v>
                </c:pt>
                <c:pt idx="9">
                  <c:v>9</c:v>
                </c:pt>
                <c:pt idx="10">
                  <c:v>10</c:v>
                </c:pt>
              </c:numCache>
            </c:numRef>
          </c:cat>
          <c:val>
            <c:numRef>
              <c:f>Planilha1!$C$2:$C$12</c:f>
              <c:numCache>
                <c:formatCode>General</c:formatCode>
                <c:ptCount val="11"/>
                <c:pt idx="0">
                  <c:v>22</c:v>
                </c:pt>
                <c:pt idx="1">
                  <c:v>10</c:v>
                </c:pt>
                <c:pt idx="2">
                  <c:v>15</c:v>
                </c:pt>
                <c:pt idx="3">
                  <c:v>40</c:v>
                </c:pt>
                <c:pt idx="4">
                  <c:v>24</c:v>
                </c:pt>
                <c:pt idx="5">
                  <c:v>20</c:v>
                </c:pt>
                <c:pt idx="6">
                  <c:v>30</c:v>
                </c:pt>
                <c:pt idx="7">
                  <c:v>40</c:v>
                </c:pt>
                <c:pt idx="8">
                  <c:v>50</c:v>
                </c:pt>
                <c:pt idx="9">
                  <c:v>45</c:v>
                </c:pt>
                <c:pt idx="10">
                  <c:v>33</c:v>
                </c:pt>
              </c:numCache>
            </c:numRef>
          </c:val>
          <c:extLst>
            <c:ext xmlns:c16="http://schemas.microsoft.com/office/drawing/2014/chart" uri="{C3380CC4-5D6E-409C-BE32-E72D297353CC}">
              <c16:uniqueId val="{00000001-D524-4C3A-AB2F-A7161163E01A}"/>
            </c:ext>
          </c:extLst>
        </c:ser>
        <c:dLbls>
          <c:dLblPos val="outEnd"/>
          <c:showLegendKey val="0"/>
          <c:showVal val="1"/>
          <c:showCatName val="0"/>
          <c:showSerName val="0"/>
          <c:showPercent val="0"/>
          <c:showBubbleSize val="0"/>
        </c:dLbls>
        <c:gapWidth val="100"/>
        <c:axId val="1193047056"/>
        <c:axId val="1193047536"/>
      </c:barChart>
      <c:catAx>
        <c:axId val="119304705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pt-BR"/>
          </a:p>
        </c:txPr>
        <c:crossAx val="1193047536"/>
        <c:crosses val="autoZero"/>
        <c:auto val="1"/>
        <c:lblAlgn val="ctr"/>
        <c:lblOffset val="100"/>
        <c:noMultiLvlLbl val="0"/>
      </c:catAx>
      <c:valAx>
        <c:axId val="119304753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193047056"/>
        <c:crosses val="autoZero"/>
        <c:crossBetween val="between"/>
      </c:valAx>
      <c:spPr>
        <a:noFill/>
        <a:ln>
          <a:noFill/>
        </a:ln>
        <a:effectLst/>
      </c:spPr>
    </c:plotArea>
    <c:legend>
      <c:legendPos val="b"/>
      <c:layout>
        <c:manualLayout>
          <c:xMode val="edge"/>
          <c:yMode val="edge"/>
          <c:x val="0.29052628218430249"/>
          <c:y val="0.84398093549696362"/>
          <c:w val="0.41894743563139497"/>
          <c:h val="9.523396996546257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Planilha1!$B$1</c:f>
              <c:strCache>
                <c:ptCount val="1"/>
                <c:pt idx="0">
                  <c:v>Q4-2024</c:v>
                </c:pt>
              </c:strCache>
            </c:strRef>
          </c:tx>
          <c:spPr>
            <a:solidFill>
              <a:schemeClr val="tx1">
                <a:lumMod val="65000"/>
                <a:lumOff val="35000"/>
              </a:schemeClr>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Planilha1!$A$2:$A$13</c:f>
              <c:strCache>
                <c:ptCount val="11"/>
                <c:pt idx="0">
                  <c:v>Sample Category</c:v>
                </c:pt>
                <c:pt idx="1">
                  <c:v>Sample Category</c:v>
                </c:pt>
                <c:pt idx="2">
                  <c:v>Sample Category</c:v>
                </c:pt>
                <c:pt idx="3">
                  <c:v>Sample Category</c:v>
                </c:pt>
                <c:pt idx="4">
                  <c:v>Sample Category</c:v>
                </c:pt>
                <c:pt idx="5">
                  <c:v>Sample Category</c:v>
                </c:pt>
                <c:pt idx="6">
                  <c:v>Sample Category</c:v>
                </c:pt>
                <c:pt idx="7">
                  <c:v>Sample Category</c:v>
                </c:pt>
                <c:pt idx="8">
                  <c:v>Sample Category</c:v>
                </c:pt>
                <c:pt idx="9">
                  <c:v>Sample Category</c:v>
                </c:pt>
                <c:pt idx="10">
                  <c:v>Sample Category</c:v>
                </c:pt>
              </c:strCache>
            </c:strRef>
          </c:cat>
          <c:val>
            <c:numRef>
              <c:f>Planilha1!$B$2:$B$13</c:f>
              <c:numCache>
                <c:formatCode>0.00%</c:formatCode>
                <c:ptCount val="12"/>
                <c:pt idx="0">
                  <c:v>0.02</c:v>
                </c:pt>
                <c:pt idx="1">
                  <c:v>0.03</c:v>
                </c:pt>
                <c:pt idx="2">
                  <c:v>0.05</c:v>
                </c:pt>
                <c:pt idx="3">
                  <c:v>0</c:v>
                </c:pt>
                <c:pt idx="4">
                  <c:v>0.08</c:v>
                </c:pt>
                <c:pt idx="5">
                  <c:v>0.1</c:v>
                </c:pt>
                <c:pt idx="6">
                  <c:v>0</c:v>
                </c:pt>
                <c:pt idx="7">
                  <c:v>0.12</c:v>
                </c:pt>
                <c:pt idx="8">
                  <c:v>0.15</c:v>
                </c:pt>
                <c:pt idx="9">
                  <c:v>0.215</c:v>
                </c:pt>
                <c:pt idx="10">
                  <c:v>0.23</c:v>
                </c:pt>
              </c:numCache>
            </c:numRef>
          </c:val>
          <c:extLst>
            <c:ext xmlns:c16="http://schemas.microsoft.com/office/drawing/2014/chart" uri="{C3380CC4-5D6E-409C-BE32-E72D297353CC}">
              <c16:uniqueId val="{00000000-21AB-48D7-A9BB-F00A0F94AB69}"/>
            </c:ext>
          </c:extLst>
        </c:ser>
        <c:ser>
          <c:idx val="1"/>
          <c:order val="1"/>
          <c:tx>
            <c:strRef>
              <c:f>Planilha1!$C$1</c:f>
              <c:strCache>
                <c:ptCount val="1"/>
                <c:pt idx="0">
                  <c:v>Q1-2025</c:v>
                </c:pt>
              </c:strCache>
            </c:strRef>
          </c:tx>
          <c:spPr>
            <a:solidFill>
              <a:srgbClr val="FF0A8C"/>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Planilha1!$A$2:$A$13</c:f>
              <c:strCache>
                <c:ptCount val="11"/>
                <c:pt idx="0">
                  <c:v>Sample Category</c:v>
                </c:pt>
                <c:pt idx="1">
                  <c:v>Sample Category</c:v>
                </c:pt>
                <c:pt idx="2">
                  <c:v>Sample Category</c:v>
                </c:pt>
                <c:pt idx="3">
                  <c:v>Sample Category</c:v>
                </c:pt>
                <c:pt idx="4">
                  <c:v>Sample Category</c:v>
                </c:pt>
                <c:pt idx="5">
                  <c:v>Sample Category</c:v>
                </c:pt>
                <c:pt idx="6">
                  <c:v>Sample Category</c:v>
                </c:pt>
                <c:pt idx="7">
                  <c:v>Sample Category</c:v>
                </c:pt>
                <c:pt idx="8">
                  <c:v>Sample Category</c:v>
                </c:pt>
                <c:pt idx="9">
                  <c:v>Sample Category</c:v>
                </c:pt>
                <c:pt idx="10">
                  <c:v>Sample Category</c:v>
                </c:pt>
              </c:strCache>
            </c:strRef>
          </c:cat>
          <c:val>
            <c:numRef>
              <c:f>Planilha1!$C$2:$C$13</c:f>
              <c:numCache>
                <c:formatCode>0.00%</c:formatCode>
                <c:ptCount val="12"/>
                <c:pt idx="0">
                  <c:v>1.2E-2</c:v>
                </c:pt>
                <c:pt idx="1">
                  <c:v>1.7999999999999999E-2</c:v>
                </c:pt>
                <c:pt idx="2">
                  <c:v>3.5999999999999997E-2</c:v>
                </c:pt>
                <c:pt idx="3">
                  <c:v>4.4999999999999998E-2</c:v>
                </c:pt>
                <c:pt idx="4">
                  <c:v>7.3999999999999996E-2</c:v>
                </c:pt>
                <c:pt idx="5">
                  <c:v>8.5000000000000006E-2</c:v>
                </c:pt>
                <c:pt idx="6">
                  <c:v>9.7000000000000003E-2</c:v>
                </c:pt>
                <c:pt idx="7">
                  <c:v>0.13300000000000001</c:v>
                </c:pt>
                <c:pt idx="8">
                  <c:v>0.14099999999999999</c:v>
                </c:pt>
                <c:pt idx="9">
                  <c:v>0.17799999999999999</c:v>
                </c:pt>
                <c:pt idx="10">
                  <c:v>0.18099999999999999</c:v>
                </c:pt>
              </c:numCache>
            </c:numRef>
          </c:val>
          <c:extLst>
            <c:ext xmlns:c16="http://schemas.microsoft.com/office/drawing/2014/chart" uri="{C3380CC4-5D6E-409C-BE32-E72D297353CC}">
              <c16:uniqueId val="{00000001-21AB-48D7-A9BB-F00A0F94AB69}"/>
            </c:ext>
          </c:extLst>
        </c:ser>
        <c:dLbls>
          <c:dLblPos val="outEnd"/>
          <c:showLegendKey val="0"/>
          <c:showVal val="1"/>
          <c:showCatName val="0"/>
          <c:showSerName val="0"/>
          <c:showPercent val="0"/>
          <c:showBubbleSize val="0"/>
        </c:dLbls>
        <c:gapWidth val="100"/>
        <c:axId val="1193047056"/>
        <c:axId val="1193047536"/>
      </c:barChart>
      <c:catAx>
        <c:axId val="119304705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pt-BR"/>
          </a:p>
        </c:txPr>
        <c:crossAx val="1193047536"/>
        <c:crosses val="autoZero"/>
        <c:auto val="1"/>
        <c:lblAlgn val="ctr"/>
        <c:lblOffset val="100"/>
        <c:noMultiLvlLbl val="0"/>
      </c:catAx>
      <c:valAx>
        <c:axId val="1193047536"/>
        <c:scaling>
          <c:orientation val="minMax"/>
        </c:scaling>
        <c:delete val="0"/>
        <c:axPos val="b"/>
        <c:majorGridlines>
          <c:spPr>
            <a:ln w="317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193047056"/>
        <c:crosses val="autoZero"/>
        <c:crossBetween val="between"/>
      </c:valAx>
      <c:spPr>
        <a:noFill/>
        <a:ln>
          <a:noFill/>
        </a:ln>
        <a:effectLst/>
      </c:spPr>
    </c:plotArea>
    <c:legend>
      <c:legendPos val="t"/>
      <c:layout>
        <c:manualLayout>
          <c:xMode val="edge"/>
          <c:yMode val="edge"/>
          <c:x val="5.1763408019892779E-2"/>
          <c:y val="6.6863603991331177E-2"/>
          <c:w val="0.21732736477590583"/>
          <c:h val="7.1463512395269449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Planilha1!$B$1</c:f>
              <c:strCache>
                <c:ptCount val="1"/>
                <c:pt idx="0">
                  <c:v>Q4-2024</c:v>
                </c:pt>
              </c:strCache>
            </c:strRef>
          </c:tx>
          <c:spPr>
            <a:solidFill>
              <a:schemeClr val="tx1">
                <a:lumMod val="65000"/>
                <a:lumOff val="35000"/>
              </a:schemeClr>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Planilha1!$A$2:$A$13</c:f>
              <c:strCache>
                <c:ptCount val="11"/>
                <c:pt idx="0">
                  <c:v>Sample Category</c:v>
                </c:pt>
                <c:pt idx="1">
                  <c:v>Sample Category</c:v>
                </c:pt>
                <c:pt idx="2">
                  <c:v>Sample Category</c:v>
                </c:pt>
                <c:pt idx="3">
                  <c:v>Sample Category</c:v>
                </c:pt>
                <c:pt idx="4">
                  <c:v>Sample Category</c:v>
                </c:pt>
                <c:pt idx="5">
                  <c:v>Sample Category</c:v>
                </c:pt>
                <c:pt idx="6">
                  <c:v>Sample Category</c:v>
                </c:pt>
                <c:pt idx="7">
                  <c:v>Sample Category</c:v>
                </c:pt>
                <c:pt idx="8">
                  <c:v>Sample Category</c:v>
                </c:pt>
                <c:pt idx="9">
                  <c:v>Sample Category</c:v>
                </c:pt>
                <c:pt idx="10">
                  <c:v>Sample Category</c:v>
                </c:pt>
              </c:strCache>
            </c:strRef>
          </c:cat>
          <c:val>
            <c:numRef>
              <c:f>Planilha1!$B$2:$B$13</c:f>
              <c:numCache>
                <c:formatCode>0.00%</c:formatCode>
                <c:ptCount val="12"/>
                <c:pt idx="0">
                  <c:v>0.02</c:v>
                </c:pt>
                <c:pt idx="1">
                  <c:v>0.03</c:v>
                </c:pt>
                <c:pt idx="2">
                  <c:v>0.05</c:v>
                </c:pt>
                <c:pt idx="3">
                  <c:v>0</c:v>
                </c:pt>
                <c:pt idx="4">
                  <c:v>0.08</c:v>
                </c:pt>
                <c:pt idx="5">
                  <c:v>0.1</c:v>
                </c:pt>
                <c:pt idx="6">
                  <c:v>0</c:v>
                </c:pt>
                <c:pt idx="7">
                  <c:v>0.12</c:v>
                </c:pt>
                <c:pt idx="8">
                  <c:v>0.15</c:v>
                </c:pt>
                <c:pt idx="9">
                  <c:v>0.215</c:v>
                </c:pt>
                <c:pt idx="10">
                  <c:v>0.23</c:v>
                </c:pt>
              </c:numCache>
            </c:numRef>
          </c:val>
          <c:extLst>
            <c:ext xmlns:c16="http://schemas.microsoft.com/office/drawing/2014/chart" uri="{C3380CC4-5D6E-409C-BE32-E72D297353CC}">
              <c16:uniqueId val="{00000000-A389-4EB5-8688-D47750FB00E4}"/>
            </c:ext>
          </c:extLst>
        </c:ser>
        <c:ser>
          <c:idx val="1"/>
          <c:order val="1"/>
          <c:tx>
            <c:strRef>
              <c:f>Planilha1!$C$1</c:f>
              <c:strCache>
                <c:ptCount val="1"/>
                <c:pt idx="0">
                  <c:v>Q1-2025</c:v>
                </c:pt>
              </c:strCache>
            </c:strRef>
          </c:tx>
          <c:spPr>
            <a:solidFill>
              <a:srgbClr val="FF0A8C"/>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600" b="0" i="0" u="none" strike="noStrike" kern="1200" baseline="0">
                    <a:solidFill>
                      <a:schemeClr val="tx1">
                        <a:lumMod val="75000"/>
                        <a:lumOff val="25000"/>
                      </a:schemeClr>
                    </a:solidFill>
                    <a:latin typeface="+mn-lt"/>
                    <a:ea typeface="+mn-ea"/>
                    <a:cs typeface="+mn-cs"/>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Planilha1!$A$2:$A$13</c:f>
              <c:strCache>
                <c:ptCount val="11"/>
                <c:pt idx="0">
                  <c:v>Sample Category</c:v>
                </c:pt>
                <c:pt idx="1">
                  <c:v>Sample Category</c:v>
                </c:pt>
                <c:pt idx="2">
                  <c:v>Sample Category</c:v>
                </c:pt>
                <c:pt idx="3">
                  <c:v>Sample Category</c:v>
                </c:pt>
                <c:pt idx="4">
                  <c:v>Sample Category</c:v>
                </c:pt>
                <c:pt idx="5">
                  <c:v>Sample Category</c:v>
                </c:pt>
                <c:pt idx="6">
                  <c:v>Sample Category</c:v>
                </c:pt>
                <c:pt idx="7">
                  <c:v>Sample Category</c:v>
                </c:pt>
                <c:pt idx="8">
                  <c:v>Sample Category</c:v>
                </c:pt>
                <c:pt idx="9">
                  <c:v>Sample Category</c:v>
                </c:pt>
                <c:pt idx="10">
                  <c:v>Sample Category</c:v>
                </c:pt>
              </c:strCache>
            </c:strRef>
          </c:cat>
          <c:val>
            <c:numRef>
              <c:f>Planilha1!$C$2:$C$13</c:f>
              <c:numCache>
                <c:formatCode>0.00%</c:formatCode>
                <c:ptCount val="12"/>
                <c:pt idx="0">
                  <c:v>1.2E-2</c:v>
                </c:pt>
                <c:pt idx="1">
                  <c:v>1.7999999999999999E-2</c:v>
                </c:pt>
                <c:pt idx="2">
                  <c:v>3.5999999999999997E-2</c:v>
                </c:pt>
                <c:pt idx="3">
                  <c:v>4.4999999999999998E-2</c:v>
                </c:pt>
                <c:pt idx="4">
                  <c:v>7.3999999999999996E-2</c:v>
                </c:pt>
                <c:pt idx="5">
                  <c:v>8.5000000000000006E-2</c:v>
                </c:pt>
                <c:pt idx="6">
                  <c:v>9.7000000000000003E-2</c:v>
                </c:pt>
                <c:pt idx="7">
                  <c:v>0.13300000000000001</c:v>
                </c:pt>
                <c:pt idx="8">
                  <c:v>0.14099999999999999</c:v>
                </c:pt>
                <c:pt idx="9">
                  <c:v>0.17799999999999999</c:v>
                </c:pt>
                <c:pt idx="10">
                  <c:v>0.18099999999999999</c:v>
                </c:pt>
              </c:numCache>
            </c:numRef>
          </c:val>
          <c:extLst>
            <c:ext xmlns:c16="http://schemas.microsoft.com/office/drawing/2014/chart" uri="{C3380CC4-5D6E-409C-BE32-E72D297353CC}">
              <c16:uniqueId val="{00000001-A389-4EB5-8688-D47750FB00E4}"/>
            </c:ext>
          </c:extLst>
        </c:ser>
        <c:dLbls>
          <c:dLblPos val="outEnd"/>
          <c:showLegendKey val="0"/>
          <c:showVal val="1"/>
          <c:showCatName val="0"/>
          <c:showSerName val="0"/>
          <c:showPercent val="0"/>
          <c:showBubbleSize val="0"/>
        </c:dLbls>
        <c:gapWidth val="100"/>
        <c:axId val="1193047056"/>
        <c:axId val="1193047536"/>
      </c:barChart>
      <c:catAx>
        <c:axId val="119304705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400" b="0" i="0" u="none" strike="noStrike" kern="1200" baseline="0">
                <a:solidFill>
                  <a:schemeClr val="tx1">
                    <a:lumMod val="65000"/>
                    <a:lumOff val="35000"/>
                  </a:schemeClr>
                </a:solidFill>
                <a:latin typeface="+mn-lt"/>
                <a:ea typeface="+mn-ea"/>
                <a:cs typeface="+mn-cs"/>
              </a:defRPr>
            </a:pPr>
            <a:endParaRPr lang="pt-BR"/>
          </a:p>
        </c:txPr>
        <c:crossAx val="1193047536"/>
        <c:crosses val="autoZero"/>
        <c:auto val="1"/>
        <c:lblAlgn val="ctr"/>
        <c:lblOffset val="100"/>
        <c:noMultiLvlLbl val="0"/>
      </c:catAx>
      <c:valAx>
        <c:axId val="1193047536"/>
        <c:scaling>
          <c:orientation val="minMax"/>
        </c:scaling>
        <c:delete val="0"/>
        <c:axPos val="b"/>
        <c:majorGridlines>
          <c:spPr>
            <a:ln w="317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mn-lt"/>
                <a:ea typeface="+mn-ea"/>
                <a:cs typeface="+mn-cs"/>
              </a:defRPr>
            </a:pPr>
            <a:endParaRPr lang="pt-BR"/>
          </a:p>
        </c:txPr>
        <c:crossAx val="1193047056"/>
        <c:crosses val="autoZero"/>
        <c:crossBetween val="between"/>
      </c:valAx>
      <c:spPr>
        <a:noFill/>
        <a:ln>
          <a:noFill/>
        </a:ln>
        <a:effectLst/>
      </c:spPr>
    </c:plotArea>
    <c:legend>
      <c:legendPos val="t"/>
      <c:layout>
        <c:manualLayout>
          <c:xMode val="edge"/>
          <c:yMode val="edge"/>
          <c:x val="5.1763408019892779E-2"/>
          <c:y val="6.6863603991331177E-2"/>
          <c:w val="0.21732736477590583"/>
          <c:h val="6.462453462053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000" b="1" i="0" u="none" strike="noStrike" kern="1200" spc="0" baseline="0">
              <a:solidFill>
                <a:srgbClr val="FF0A8C"/>
              </a:solidFill>
              <a:latin typeface="+mn-lt"/>
              <a:ea typeface="+mn-ea"/>
              <a:cs typeface="+mn-cs"/>
            </a:defRPr>
          </a:pPr>
          <a:endParaRPr lang="pt-BR"/>
        </a:p>
      </c:txPr>
    </c:title>
    <c:autoTitleDeleted val="0"/>
    <c:plotArea>
      <c:layout/>
      <c:lineChart>
        <c:grouping val="standard"/>
        <c:varyColors val="0"/>
        <c:ser>
          <c:idx val="0"/>
          <c:order val="0"/>
          <c:tx>
            <c:strRef>
              <c:f>Planilha1!$B$1</c:f>
              <c:strCache>
                <c:ptCount val="1"/>
                <c:pt idx="0">
                  <c:v>Score</c:v>
                </c:pt>
              </c:strCache>
            </c:strRef>
          </c:tx>
          <c:spPr>
            <a:ln w="28575" cap="rnd">
              <a:solidFill>
                <a:srgbClr val="FF0A8C"/>
              </a:solidFill>
              <a:round/>
            </a:ln>
            <a:effectLst/>
          </c:spPr>
          <c:marker>
            <c:symbol val="none"/>
          </c:marker>
          <c:dPt>
            <c:idx val="0"/>
            <c:marker>
              <c:symbol val="none"/>
            </c:marker>
            <c:bubble3D val="0"/>
            <c:spPr>
              <a:ln w="28575" cap="rnd">
                <a:solidFill>
                  <a:srgbClr val="FF0A8C"/>
                </a:solidFill>
                <a:round/>
              </a:ln>
              <a:effectLst/>
            </c:spPr>
            <c:extLst>
              <c:ext xmlns:c16="http://schemas.microsoft.com/office/drawing/2014/chart" uri="{C3380CC4-5D6E-409C-BE32-E72D297353CC}">
                <c16:uniqueId val="{00000001-20DE-4208-BD78-908F6EB9BB2A}"/>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Planilha1!$A$2:$A$4</c:f>
              <c:strCache>
                <c:ptCount val="3"/>
                <c:pt idx="0">
                  <c:v>Q3-2024</c:v>
                </c:pt>
                <c:pt idx="1">
                  <c:v>Q4-2024</c:v>
                </c:pt>
                <c:pt idx="2">
                  <c:v>Q1-2025</c:v>
                </c:pt>
              </c:strCache>
            </c:strRef>
          </c:cat>
          <c:val>
            <c:numRef>
              <c:f>Planilha1!$B$2:$B$4</c:f>
              <c:numCache>
                <c:formatCode>General</c:formatCode>
                <c:ptCount val="3"/>
                <c:pt idx="0">
                  <c:v>7.1</c:v>
                </c:pt>
                <c:pt idx="1">
                  <c:v>7.5</c:v>
                </c:pt>
                <c:pt idx="2">
                  <c:v>8.1999999999999993</c:v>
                </c:pt>
              </c:numCache>
            </c:numRef>
          </c:val>
          <c:smooth val="0"/>
          <c:extLst>
            <c:ext xmlns:c16="http://schemas.microsoft.com/office/drawing/2014/chart" uri="{C3380CC4-5D6E-409C-BE32-E72D297353CC}">
              <c16:uniqueId val="{00000004-20DE-4208-BD78-908F6EB9BB2A}"/>
            </c:ext>
          </c:extLst>
        </c:ser>
        <c:dLbls>
          <c:showLegendKey val="0"/>
          <c:showVal val="0"/>
          <c:showCatName val="0"/>
          <c:showSerName val="0"/>
          <c:showPercent val="0"/>
          <c:showBubbleSize val="0"/>
        </c:dLbls>
        <c:smooth val="0"/>
        <c:axId val="1285527248"/>
        <c:axId val="1285527728"/>
      </c:lineChart>
      <c:catAx>
        <c:axId val="1285527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crossAx val="1285527728"/>
        <c:crosses val="autoZero"/>
        <c:auto val="1"/>
        <c:lblAlgn val="ctr"/>
        <c:lblOffset val="100"/>
        <c:noMultiLvlLbl val="0"/>
      </c:catAx>
      <c:valAx>
        <c:axId val="128552772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285527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rgbClr val="FF0A8C"/>
                </a:solidFill>
                <a:latin typeface="+mn-lt"/>
                <a:ea typeface="+mn-ea"/>
                <a:cs typeface="+mn-cs"/>
              </a:defRPr>
            </a:pPr>
            <a:r>
              <a:rPr lang="pt-BR" dirty="0"/>
              <a:t>Positive feedbacks</a:t>
            </a:r>
          </a:p>
        </c:rich>
      </c:tx>
      <c:overlay val="0"/>
      <c:spPr>
        <a:noFill/>
        <a:ln>
          <a:noFill/>
        </a:ln>
        <a:effectLst/>
      </c:spPr>
      <c:txPr>
        <a:bodyPr rot="0" spcFirstLastPara="1" vertOverflow="ellipsis" vert="horz" wrap="square" anchor="ctr" anchorCtr="1"/>
        <a:lstStyle/>
        <a:p>
          <a:pPr>
            <a:defRPr sz="1000" b="1" i="0" u="none" strike="noStrike" kern="1200" spc="0" baseline="0">
              <a:solidFill>
                <a:srgbClr val="FF0A8C"/>
              </a:solidFill>
              <a:latin typeface="+mn-lt"/>
              <a:ea typeface="+mn-ea"/>
              <a:cs typeface="+mn-cs"/>
            </a:defRPr>
          </a:pPr>
          <a:endParaRPr lang="pt-BR"/>
        </a:p>
      </c:txPr>
    </c:title>
    <c:autoTitleDeleted val="0"/>
    <c:plotArea>
      <c:layout/>
      <c:lineChart>
        <c:grouping val="standard"/>
        <c:varyColors val="0"/>
        <c:ser>
          <c:idx val="0"/>
          <c:order val="0"/>
          <c:tx>
            <c:strRef>
              <c:f>Planilha1!$B$1</c:f>
              <c:strCache>
                <c:ptCount val="1"/>
                <c:pt idx="0">
                  <c:v>Score</c:v>
                </c:pt>
              </c:strCache>
            </c:strRef>
          </c:tx>
          <c:spPr>
            <a:ln w="28575" cap="rnd">
              <a:solidFill>
                <a:srgbClr val="FF0A8C"/>
              </a:solidFill>
              <a:round/>
            </a:ln>
            <a:effectLst/>
          </c:spPr>
          <c:marker>
            <c:symbol val="none"/>
          </c:marker>
          <c:dPt>
            <c:idx val="0"/>
            <c:marker>
              <c:symbol val="none"/>
            </c:marker>
            <c:bubble3D val="0"/>
            <c:spPr>
              <a:ln w="28575" cap="rnd">
                <a:solidFill>
                  <a:srgbClr val="FF0A8C"/>
                </a:solidFill>
                <a:round/>
              </a:ln>
              <a:effectLst/>
            </c:spPr>
            <c:extLst>
              <c:ext xmlns:c16="http://schemas.microsoft.com/office/drawing/2014/chart" uri="{C3380CC4-5D6E-409C-BE32-E72D297353CC}">
                <c16:uniqueId val="{00000001-7A62-4865-8F07-B2FA661042AE}"/>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Planilha1!$A$2:$A$4</c:f>
              <c:strCache>
                <c:ptCount val="3"/>
                <c:pt idx="0">
                  <c:v>Q3-2024</c:v>
                </c:pt>
                <c:pt idx="1">
                  <c:v>Q4-2024</c:v>
                </c:pt>
                <c:pt idx="2">
                  <c:v>Q1-2025</c:v>
                </c:pt>
              </c:strCache>
            </c:strRef>
          </c:cat>
          <c:val>
            <c:numRef>
              <c:f>Planilha1!$B$2:$B$4</c:f>
              <c:numCache>
                <c:formatCode>General</c:formatCode>
                <c:ptCount val="3"/>
                <c:pt idx="0">
                  <c:v>35</c:v>
                </c:pt>
                <c:pt idx="1">
                  <c:v>41</c:v>
                </c:pt>
                <c:pt idx="2">
                  <c:v>62</c:v>
                </c:pt>
              </c:numCache>
            </c:numRef>
          </c:val>
          <c:smooth val="0"/>
          <c:extLst>
            <c:ext xmlns:c16="http://schemas.microsoft.com/office/drawing/2014/chart" uri="{C3380CC4-5D6E-409C-BE32-E72D297353CC}">
              <c16:uniqueId val="{00000002-7A62-4865-8F07-B2FA661042AE}"/>
            </c:ext>
          </c:extLst>
        </c:ser>
        <c:dLbls>
          <c:showLegendKey val="0"/>
          <c:showVal val="0"/>
          <c:showCatName val="0"/>
          <c:showSerName val="0"/>
          <c:showPercent val="0"/>
          <c:showBubbleSize val="0"/>
        </c:dLbls>
        <c:smooth val="0"/>
        <c:axId val="1285527248"/>
        <c:axId val="1285527728"/>
      </c:lineChart>
      <c:catAx>
        <c:axId val="1285527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crossAx val="1285527728"/>
        <c:crosses val="autoZero"/>
        <c:auto val="1"/>
        <c:lblAlgn val="ctr"/>
        <c:lblOffset val="100"/>
        <c:noMultiLvlLbl val="0"/>
      </c:catAx>
      <c:valAx>
        <c:axId val="128552772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285527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1" i="0" u="none" strike="noStrike" kern="1200" spc="0" baseline="0">
                <a:solidFill>
                  <a:srgbClr val="FF0A8C"/>
                </a:solidFill>
                <a:latin typeface="+mn-lt"/>
                <a:ea typeface="+mn-ea"/>
                <a:cs typeface="+mn-cs"/>
              </a:defRPr>
            </a:pPr>
            <a:r>
              <a:rPr lang="pt-BR" dirty="0"/>
              <a:t>Problems reported</a:t>
            </a:r>
          </a:p>
        </c:rich>
      </c:tx>
      <c:overlay val="0"/>
      <c:spPr>
        <a:noFill/>
        <a:ln>
          <a:noFill/>
        </a:ln>
        <a:effectLst/>
      </c:spPr>
      <c:txPr>
        <a:bodyPr rot="0" spcFirstLastPara="1" vertOverflow="ellipsis" vert="horz" wrap="square" anchor="ctr" anchorCtr="1"/>
        <a:lstStyle/>
        <a:p>
          <a:pPr>
            <a:defRPr sz="1000" b="1" i="0" u="none" strike="noStrike" kern="1200" spc="0" baseline="0">
              <a:solidFill>
                <a:srgbClr val="FF0A8C"/>
              </a:solidFill>
              <a:latin typeface="+mn-lt"/>
              <a:ea typeface="+mn-ea"/>
              <a:cs typeface="+mn-cs"/>
            </a:defRPr>
          </a:pPr>
          <a:endParaRPr lang="pt-BR"/>
        </a:p>
      </c:txPr>
    </c:title>
    <c:autoTitleDeleted val="0"/>
    <c:plotArea>
      <c:layout/>
      <c:lineChart>
        <c:grouping val="standard"/>
        <c:varyColors val="0"/>
        <c:ser>
          <c:idx val="0"/>
          <c:order val="0"/>
          <c:tx>
            <c:strRef>
              <c:f>Planilha1!$B$1</c:f>
              <c:strCache>
                <c:ptCount val="1"/>
                <c:pt idx="0">
                  <c:v>Score</c:v>
                </c:pt>
              </c:strCache>
            </c:strRef>
          </c:tx>
          <c:spPr>
            <a:ln w="28575" cap="rnd">
              <a:solidFill>
                <a:srgbClr val="FF0A8C"/>
              </a:solidFill>
              <a:round/>
            </a:ln>
            <a:effectLst/>
          </c:spPr>
          <c:marker>
            <c:symbol val="none"/>
          </c:marker>
          <c:dPt>
            <c:idx val="0"/>
            <c:marker>
              <c:symbol val="none"/>
            </c:marker>
            <c:bubble3D val="0"/>
            <c:spPr>
              <a:ln w="28575" cap="rnd">
                <a:solidFill>
                  <a:srgbClr val="FF0A8C"/>
                </a:solidFill>
                <a:round/>
              </a:ln>
              <a:effectLst/>
            </c:spPr>
            <c:extLst>
              <c:ext xmlns:c16="http://schemas.microsoft.com/office/drawing/2014/chart" uri="{C3380CC4-5D6E-409C-BE32-E72D297353CC}">
                <c16:uniqueId val="{00000001-89E6-4313-8FD4-E141343E758D}"/>
              </c:ext>
            </c:extLst>
          </c:dPt>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pt-B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Planilha1!$A$2:$A$4</c:f>
              <c:strCache>
                <c:ptCount val="3"/>
                <c:pt idx="0">
                  <c:v>Q3-2024</c:v>
                </c:pt>
                <c:pt idx="1">
                  <c:v>Q4-2024</c:v>
                </c:pt>
                <c:pt idx="2">
                  <c:v>Q1-2025</c:v>
                </c:pt>
              </c:strCache>
            </c:strRef>
          </c:cat>
          <c:val>
            <c:numRef>
              <c:f>Planilha1!$B$2:$B$4</c:f>
              <c:numCache>
                <c:formatCode>General</c:formatCode>
                <c:ptCount val="3"/>
                <c:pt idx="0">
                  <c:v>139</c:v>
                </c:pt>
                <c:pt idx="1">
                  <c:v>119</c:v>
                </c:pt>
                <c:pt idx="2">
                  <c:v>86</c:v>
                </c:pt>
              </c:numCache>
            </c:numRef>
          </c:val>
          <c:smooth val="0"/>
          <c:extLst>
            <c:ext xmlns:c16="http://schemas.microsoft.com/office/drawing/2014/chart" uri="{C3380CC4-5D6E-409C-BE32-E72D297353CC}">
              <c16:uniqueId val="{00000002-89E6-4313-8FD4-E141343E758D}"/>
            </c:ext>
          </c:extLst>
        </c:ser>
        <c:dLbls>
          <c:showLegendKey val="0"/>
          <c:showVal val="0"/>
          <c:showCatName val="0"/>
          <c:showSerName val="0"/>
          <c:showPercent val="0"/>
          <c:showBubbleSize val="0"/>
        </c:dLbls>
        <c:smooth val="0"/>
        <c:axId val="1285527248"/>
        <c:axId val="1285527728"/>
      </c:lineChart>
      <c:catAx>
        <c:axId val="1285527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pt-BR"/>
          </a:p>
        </c:txPr>
        <c:crossAx val="1285527728"/>
        <c:crosses val="autoZero"/>
        <c:auto val="1"/>
        <c:lblAlgn val="ctr"/>
        <c:lblOffset val="100"/>
        <c:noMultiLvlLbl val="0"/>
      </c:catAx>
      <c:valAx>
        <c:axId val="128552772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2855272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57C421AB-3174-5ED8-B9EE-67AFA44C492D}"/>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6B7597D1-E7E5-02D1-D283-D199FF061D8E}"/>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6144FDEC-7DE8-43CC-ABCE-EEC3E21B076C}" type="datetimeFigureOut">
              <a:rPr lang="pt-BR" smtClean="0"/>
              <a:t>02/05/2025</a:t>
            </a:fld>
            <a:endParaRPr lang="pt-BR" dirty="0"/>
          </a:p>
        </p:txBody>
      </p:sp>
      <p:sp>
        <p:nvSpPr>
          <p:cNvPr id="4" name="Espaço Reservado para Rodapé 3">
            <a:extLst>
              <a:ext uri="{FF2B5EF4-FFF2-40B4-BE49-F238E27FC236}">
                <a16:creationId xmlns:a16="http://schemas.microsoft.com/office/drawing/2014/main" id="{7C0CD7C4-2CB3-25A9-3EF9-4BFFDF02B7C2}"/>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B1D145-F9A1-9ED0-4EBE-0F13288D9F15}"/>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D6793347-9BFE-40BC-A4AA-6F34D47F335A}" type="slidenum">
              <a:rPr lang="pt-BR" smtClean="0"/>
              <a:t>‹nº›</a:t>
            </a:fld>
            <a:endParaRPr lang="pt-BR" dirty="0"/>
          </a:p>
        </p:txBody>
      </p:sp>
    </p:spTree>
    <p:extLst>
      <p:ext uri="{BB962C8B-B14F-4D97-AF65-F5344CB8AC3E}">
        <p14:creationId xmlns:p14="http://schemas.microsoft.com/office/powerpoint/2010/main" val="56066599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19AE267C-4196-40B0-8BD3-E4384B935B5C}" type="datetimeFigureOut">
              <a:rPr lang="pt-BR" smtClean="0"/>
              <a:t>02/05/2025</a:t>
            </a:fld>
            <a:endParaRPr lang="pt-BR" dirty="0"/>
          </a:p>
        </p:txBody>
      </p:sp>
      <p:sp>
        <p:nvSpPr>
          <p:cNvPr id="4" name="Espaço Reservado para Imagem de Slide 3"/>
          <p:cNvSpPr>
            <a:spLocks noGrp="1" noRot="1" noChangeAspect="1"/>
          </p:cNvSpPr>
          <p:nvPr>
            <p:ph type="sldImg" idx="2"/>
          </p:nvPr>
        </p:nvSpPr>
        <p:spPr>
          <a:xfrm>
            <a:off x="2357438" y="1279525"/>
            <a:ext cx="2390775" cy="34544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E5D9A3B-BC14-4F18-96A7-C1FFB5DC555F}" type="slidenum">
              <a:rPr lang="pt-BR" smtClean="0"/>
              <a:t>‹nº›</a:t>
            </a:fld>
            <a:endParaRPr lang="pt-BR" dirty="0"/>
          </a:p>
        </p:txBody>
      </p:sp>
    </p:spTree>
    <p:extLst>
      <p:ext uri="{BB962C8B-B14F-4D97-AF65-F5344CB8AC3E}">
        <p14:creationId xmlns:p14="http://schemas.microsoft.com/office/powerpoint/2010/main" val="2675588271"/>
      </p:ext>
    </p:extLst>
  </p:cSld>
  <p:clrMap bg1="lt1" tx1="dk1" bg2="lt2" tx2="dk2" accent1="accent1" accent2="accent2" accent3="accent3" accent4="accent4" accent5="accent5" accent6="accent6" hlink="hlink" folHlink="folHlink"/>
  <p:hf sldNum="0" hdr="0" ftr="0" dt="0"/>
  <p:notesStyle>
    <a:lvl1pPr marL="0" algn="l" defTabSz="914065" rtl="0" eaLnBrk="1" latinLnBrk="0" hangingPunct="1">
      <a:defRPr sz="1200" kern="1200">
        <a:solidFill>
          <a:schemeClr val="tx1"/>
        </a:solidFill>
        <a:latin typeface="+mn-lt"/>
        <a:ea typeface="+mn-ea"/>
        <a:cs typeface="+mn-cs"/>
      </a:defRPr>
    </a:lvl1pPr>
    <a:lvl2pPr marL="457033" algn="l" defTabSz="914065" rtl="0" eaLnBrk="1" latinLnBrk="0" hangingPunct="1">
      <a:defRPr sz="1200" kern="1200">
        <a:solidFill>
          <a:schemeClr val="tx1"/>
        </a:solidFill>
        <a:latin typeface="+mn-lt"/>
        <a:ea typeface="+mn-ea"/>
        <a:cs typeface="+mn-cs"/>
      </a:defRPr>
    </a:lvl2pPr>
    <a:lvl3pPr marL="914065" algn="l" defTabSz="914065" rtl="0" eaLnBrk="1" latinLnBrk="0" hangingPunct="1">
      <a:defRPr sz="1200" kern="1200">
        <a:solidFill>
          <a:schemeClr val="tx1"/>
        </a:solidFill>
        <a:latin typeface="+mn-lt"/>
        <a:ea typeface="+mn-ea"/>
        <a:cs typeface="+mn-cs"/>
      </a:defRPr>
    </a:lvl3pPr>
    <a:lvl4pPr marL="1371098" algn="l" defTabSz="914065" rtl="0" eaLnBrk="1" latinLnBrk="0" hangingPunct="1">
      <a:defRPr sz="1200" kern="1200">
        <a:solidFill>
          <a:schemeClr val="tx1"/>
        </a:solidFill>
        <a:latin typeface="+mn-lt"/>
        <a:ea typeface="+mn-ea"/>
        <a:cs typeface="+mn-cs"/>
      </a:defRPr>
    </a:lvl4pPr>
    <a:lvl5pPr marL="1828129" algn="l" defTabSz="914065" rtl="0" eaLnBrk="1" latinLnBrk="0" hangingPunct="1">
      <a:defRPr sz="1200" kern="1200">
        <a:solidFill>
          <a:schemeClr val="tx1"/>
        </a:solidFill>
        <a:latin typeface="+mn-lt"/>
        <a:ea typeface="+mn-ea"/>
        <a:cs typeface="+mn-cs"/>
      </a:defRPr>
    </a:lvl5pPr>
    <a:lvl6pPr marL="2285163" algn="l" defTabSz="914065" rtl="0" eaLnBrk="1" latinLnBrk="0" hangingPunct="1">
      <a:defRPr sz="1200" kern="1200">
        <a:solidFill>
          <a:schemeClr val="tx1"/>
        </a:solidFill>
        <a:latin typeface="+mn-lt"/>
        <a:ea typeface="+mn-ea"/>
        <a:cs typeface="+mn-cs"/>
      </a:defRPr>
    </a:lvl6pPr>
    <a:lvl7pPr marL="2742197" algn="l" defTabSz="914065" rtl="0" eaLnBrk="1" latinLnBrk="0" hangingPunct="1">
      <a:defRPr sz="1200" kern="1200">
        <a:solidFill>
          <a:schemeClr val="tx1"/>
        </a:solidFill>
        <a:latin typeface="+mn-lt"/>
        <a:ea typeface="+mn-ea"/>
        <a:cs typeface="+mn-cs"/>
      </a:defRPr>
    </a:lvl7pPr>
    <a:lvl8pPr marL="3199228" algn="l" defTabSz="914065" rtl="0" eaLnBrk="1" latinLnBrk="0" hangingPunct="1">
      <a:defRPr sz="1200" kern="1200">
        <a:solidFill>
          <a:schemeClr val="tx1"/>
        </a:solidFill>
        <a:latin typeface="+mn-lt"/>
        <a:ea typeface="+mn-ea"/>
        <a:cs typeface="+mn-cs"/>
      </a:defRPr>
    </a:lvl8pPr>
    <a:lvl9pPr marL="3656260" algn="l" defTabSz="9140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3809665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4063929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Tree>
    <p:extLst>
      <p:ext uri="{BB962C8B-B14F-4D97-AF65-F5344CB8AC3E}">
        <p14:creationId xmlns:p14="http://schemas.microsoft.com/office/powerpoint/2010/main" val="2060709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pt-BR"/>
              <a:t>Clique para editar o título Mestre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F93F2608-E474-4105-90E1-40C318A0CE5E}" type="datetime1">
              <a:rPr lang="pt-BR" smtClean="0"/>
              <a:t>02/05/2025</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822838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B4F84E7C-C440-41DE-8154-29343688B3C9}" type="datetime1">
              <a:rPr lang="pt-BR" smtClean="0"/>
              <a:t>02/05/2025</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206118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pt-BR"/>
              <a:t>Clique para editar o título Mestre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6C8E8052-6A53-476A-8D02-30E116976C23}" type="datetime1">
              <a:rPr lang="pt-BR" smtClean="0"/>
              <a:t>02/05/2025</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4184613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B86D9D9C-BF31-4946-8A76-49C086675F4E}" type="datetime1">
              <a:rPr lang="pt-BR" smtClean="0"/>
              <a:t>02/05/2025</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2162446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4" name="Content Placeholder 3"/>
          <p:cNvSpPr>
            <a:spLocks noGrp="1"/>
          </p:cNvSpPr>
          <p:nvPr>
            <p:ph sz="half" idx="2"/>
          </p:nvPr>
        </p:nvSpPr>
        <p:spPr>
          <a:xfrm>
            <a:off x="472381" y="3618442"/>
            <a:ext cx="2901255"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Clique para editar os estilos de texto Mestres</a:t>
            </a:r>
          </a:p>
        </p:txBody>
      </p:sp>
      <p:sp>
        <p:nvSpPr>
          <p:cNvPr id="6" name="Content Placeholder 5"/>
          <p:cNvSpPr>
            <a:spLocks noGrp="1"/>
          </p:cNvSpPr>
          <p:nvPr>
            <p:ph sz="quarter" idx="4"/>
          </p:nvPr>
        </p:nvSpPr>
        <p:spPr>
          <a:xfrm>
            <a:off x="3471863" y="3618442"/>
            <a:ext cx="2915543" cy="532218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77B2E57E-DBC0-44C6-B7E8-A70CF228CB33}" type="datetime1">
              <a:rPr lang="pt-BR" smtClean="0"/>
              <a:t>02/05/2025</a:t>
            </a:fld>
            <a:endParaRPr lang="pt-BR" dirty="0"/>
          </a:p>
        </p:txBody>
      </p:sp>
      <p:sp>
        <p:nvSpPr>
          <p:cNvPr id="8" name="Footer Placeholder 7"/>
          <p:cNvSpPr>
            <a:spLocks noGrp="1"/>
          </p:cNvSpPr>
          <p:nvPr>
            <p:ph type="ftr" sz="quarter" idx="11"/>
          </p:nvPr>
        </p:nvSpPr>
        <p:spPr/>
        <p:txBody>
          <a:bodyPr/>
          <a:lstStyle/>
          <a:p>
            <a:endParaRPr lang="pt-BR" dirty="0"/>
          </a:p>
        </p:txBody>
      </p:sp>
      <p:sp>
        <p:nvSpPr>
          <p:cNvPr id="9" name="Slide Number Placeholder 8"/>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2265588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D969648B-AA34-48D2-A007-2CF7D6456228}" type="datetime1">
              <a:rPr lang="pt-BR" smtClean="0"/>
              <a:t>02/05/2025</a:t>
            </a:fld>
            <a:endParaRPr lang="pt-BR" dirty="0"/>
          </a:p>
        </p:txBody>
      </p:sp>
      <p:sp>
        <p:nvSpPr>
          <p:cNvPr id="4" name="Footer Placeholder 3"/>
          <p:cNvSpPr>
            <a:spLocks noGrp="1"/>
          </p:cNvSpPr>
          <p:nvPr>
            <p:ph type="ftr" sz="quarter" idx="11"/>
          </p:nvPr>
        </p:nvSpPr>
        <p:spPr/>
        <p:txBody>
          <a:bodyPr/>
          <a:lstStyle/>
          <a:p>
            <a:endParaRPr lang="pt-BR" dirty="0"/>
          </a:p>
        </p:txBody>
      </p:sp>
      <p:sp>
        <p:nvSpPr>
          <p:cNvPr id="5" name="Slide Number Placeholder 4"/>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3519832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70AFEE-8C5D-4740-8722-C3E789949691}" type="datetime1">
              <a:rPr lang="pt-BR" smtClean="0"/>
              <a:t>02/05/2025</a:t>
            </a:fld>
            <a:endParaRPr lang="pt-BR" dirty="0"/>
          </a:p>
        </p:txBody>
      </p:sp>
      <p:sp>
        <p:nvSpPr>
          <p:cNvPr id="3" name="Footer Placeholder 2"/>
          <p:cNvSpPr>
            <a:spLocks noGrp="1"/>
          </p:cNvSpPr>
          <p:nvPr>
            <p:ph type="ftr" sz="quarter" idx="11"/>
          </p:nvPr>
        </p:nvSpPr>
        <p:spPr/>
        <p:txBody>
          <a:bodyPr/>
          <a:lstStyle/>
          <a:p>
            <a:endParaRPr lang="pt-BR" dirty="0"/>
          </a:p>
        </p:txBody>
      </p:sp>
      <p:sp>
        <p:nvSpPr>
          <p:cNvPr id="4" name="Slide Number Placeholder 3"/>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3723118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E5D6EF5D-0EAC-4DB2-BB3C-53D1AEADB89C}" type="datetime1">
              <a:rPr lang="pt-BR" smtClean="0"/>
              <a:t>02/05/2025</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76656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pt-BR" dirty="0"/>
              <a:t>Clique no ícone para adicionar uma imagem</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6B2447D-845C-4ABE-95CD-498BF6877AD5}" type="datetime1">
              <a:rPr lang="pt-BR" smtClean="0"/>
              <a:t>02/05/2025</a:t>
            </a:fld>
            <a:endParaRPr lang="pt-BR" dirty="0"/>
          </a:p>
        </p:txBody>
      </p:sp>
      <p:sp>
        <p:nvSpPr>
          <p:cNvPr id="6" name="Footer Placeholder 5"/>
          <p:cNvSpPr>
            <a:spLocks noGrp="1"/>
          </p:cNvSpPr>
          <p:nvPr>
            <p:ph type="ftr" sz="quarter" idx="11"/>
          </p:nvPr>
        </p:nvSpPr>
        <p:spPr/>
        <p:txBody>
          <a:bodyPr/>
          <a:lstStyle/>
          <a:p>
            <a:endParaRPr lang="pt-BR" dirty="0"/>
          </a:p>
        </p:txBody>
      </p:sp>
      <p:sp>
        <p:nvSpPr>
          <p:cNvPr id="7" name="Slide Number Placeholder 6"/>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3953155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CB8E095B-05F9-4254-9B1C-0FE02720AABA}" type="datetime1">
              <a:rPr lang="pt-BR" smtClean="0"/>
              <a:t>02/05/2025</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2522997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FB47B91E-4C49-43DD-BCB4-95C716F298E2}" type="datetime1">
              <a:rPr lang="pt-BR" smtClean="0"/>
              <a:t>02/05/2025</a:t>
            </a:fld>
            <a:endParaRPr lang="pt-BR" dirty="0"/>
          </a:p>
        </p:txBody>
      </p:sp>
      <p:sp>
        <p:nvSpPr>
          <p:cNvPr id="5" name="Footer Placeholder 4"/>
          <p:cNvSpPr>
            <a:spLocks noGrp="1"/>
          </p:cNvSpPr>
          <p:nvPr>
            <p:ph type="ftr" sz="quarter" idx="11"/>
          </p:nvPr>
        </p:nvSpPr>
        <p:spPr/>
        <p:txBody>
          <a:bodyPr/>
          <a:lstStyle/>
          <a:p>
            <a:endParaRPr lang="pt-BR" dirty="0"/>
          </a:p>
        </p:txBody>
      </p:sp>
      <p:sp>
        <p:nvSpPr>
          <p:cNvPr id="6" name="Slide Number Placeholder 5"/>
          <p:cNvSpPr>
            <a:spLocks noGrp="1"/>
          </p:cNvSpPr>
          <p:nvPr>
            <p:ph type="sldNum" sz="quarter" idx="12"/>
          </p:nvPr>
        </p:nvSpPr>
        <p:spPr/>
        <p:txBody>
          <a:bodyPr/>
          <a:lstStyle/>
          <a:p>
            <a:fld id="{9FB632E4-DF7A-4738-AAE7-03CB0B1A370B}" type="slidenum">
              <a:rPr lang="pt-BR" smtClean="0"/>
              <a:t>‹nº›</a:t>
            </a:fld>
            <a:endParaRPr lang="pt-BR" dirty="0"/>
          </a:p>
        </p:txBody>
      </p:sp>
    </p:spTree>
    <p:extLst>
      <p:ext uri="{BB962C8B-B14F-4D97-AF65-F5344CB8AC3E}">
        <p14:creationId xmlns:p14="http://schemas.microsoft.com/office/powerpoint/2010/main" val="16132231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3B904352-B983-448D-B747-E1F236F16A35}" type="datetime1">
              <a:rPr lang="pt-BR" smtClean="0"/>
              <a:t>02/05/2025</a:t>
            </a:fld>
            <a:endParaRPr lang="pt-BR"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pt-BR" dirty="0"/>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9FB632E4-DF7A-4738-AAE7-03CB0B1A370B}" type="slidenum">
              <a:rPr lang="pt-BR" smtClean="0"/>
              <a:t>‹nº›</a:t>
            </a:fld>
            <a:endParaRPr lang="pt-BR" dirty="0"/>
          </a:p>
        </p:txBody>
      </p:sp>
      <p:sp>
        <p:nvSpPr>
          <p:cNvPr id="7" name="CaixaDeTexto 6">
            <a:extLst>
              <a:ext uri="{FF2B5EF4-FFF2-40B4-BE49-F238E27FC236}">
                <a16:creationId xmlns:a16="http://schemas.microsoft.com/office/drawing/2014/main" id="{8A69E404-1BC0-766F-826C-A08465C171F0}"/>
              </a:ext>
            </a:extLst>
          </p:cNvPr>
          <p:cNvSpPr txBox="1"/>
          <p:nvPr userDrawn="1">
            <p:extLst>
              <p:ext uri="{1162E1C5-73C7-4A58-AE30-91384D911F3F}">
                <p184:classification xmlns:p184="http://schemas.microsoft.com/office/powerpoint/2018/4/main" val="ftr"/>
              </p:ext>
            </p:extLst>
          </p:nvPr>
        </p:nvSpPr>
        <p:spPr>
          <a:xfrm>
            <a:off x="63500" y="9730582"/>
            <a:ext cx="1855788" cy="153888"/>
          </a:xfrm>
          <a:prstGeom prst="rect">
            <a:avLst/>
          </a:prstGeom>
        </p:spPr>
        <p:txBody>
          <a:bodyPr horzOverflow="overflow" lIns="0" tIns="0" rIns="0" bIns="0">
            <a:spAutoFit/>
          </a:bodyPr>
          <a:lstStyle/>
          <a:p>
            <a:pPr algn="l"/>
            <a:r>
              <a:rPr lang="pt-BR" sz="1000" dirty="0">
                <a:solidFill>
                  <a:srgbClr val="000000">
                    <a:alpha val="50000"/>
                  </a:srgbClr>
                </a:solidFill>
                <a:latin typeface="Calibri" panose="020F0502020204030204" pitchFamily="34" charset="0"/>
                <a:cs typeface="Calibri" panose="020F0502020204030204" pitchFamily="34" charset="0"/>
              </a:rPr>
              <a:t>Nível de confidencialidade - Público</a:t>
            </a:r>
          </a:p>
        </p:txBody>
      </p:sp>
    </p:spTree>
    <p:extLst>
      <p:ext uri="{BB962C8B-B14F-4D97-AF65-F5344CB8AC3E}">
        <p14:creationId xmlns:p14="http://schemas.microsoft.com/office/powerpoint/2010/main" val="22467685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10" Type="http://schemas.openxmlformats.org/officeDocument/2006/relationships/image" Target="../media/image2.svg"/><Relationship Id="rId4" Type="http://schemas.openxmlformats.org/officeDocument/2006/relationships/chart" Target="../charts/chart2.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chart" Target="../charts/char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1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chart" Target="../charts/chart10.xml"/><Relationship Id="rId5" Type="http://schemas.openxmlformats.org/officeDocument/2006/relationships/chart" Target="../charts/chart9.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062C"/>
        </a:solidFill>
        <a:effectLst/>
      </p:bgPr>
    </p:bg>
    <p:spTree>
      <p:nvGrpSpPr>
        <p:cNvPr id="1" name=""/>
        <p:cNvGrpSpPr/>
        <p:nvPr/>
      </p:nvGrpSpPr>
      <p:grpSpPr>
        <a:xfrm>
          <a:off x="0" y="0"/>
          <a:ext cx="0" cy="0"/>
          <a:chOff x="0" y="0"/>
          <a:chExt cx="0" cy="0"/>
        </a:xfrm>
      </p:grpSpPr>
      <p:sp>
        <p:nvSpPr>
          <p:cNvPr id="8" name="Retângulo 7">
            <a:extLst>
              <a:ext uri="{FF2B5EF4-FFF2-40B4-BE49-F238E27FC236}">
                <a16:creationId xmlns:a16="http://schemas.microsoft.com/office/drawing/2014/main" id="{FC740441-18A9-C2AD-0CB9-1C15CA96157D}"/>
              </a:ext>
            </a:extLst>
          </p:cNvPr>
          <p:cNvSpPr/>
          <p:nvPr/>
        </p:nvSpPr>
        <p:spPr>
          <a:xfrm>
            <a:off x="440269" y="1385057"/>
            <a:ext cx="5977466" cy="1430110"/>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Retângulo: Cantos Arredondados 5">
            <a:extLst>
              <a:ext uri="{FF2B5EF4-FFF2-40B4-BE49-F238E27FC236}">
                <a16:creationId xmlns:a16="http://schemas.microsoft.com/office/drawing/2014/main" id="{35047018-07BE-6058-8342-E1C8B904F3A9}"/>
              </a:ext>
            </a:extLst>
          </p:cNvPr>
          <p:cNvSpPr/>
          <p:nvPr/>
        </p:nvSpPr>
        <p:spPr>
          <a:xfrm>
            <a:off x="4781683" y="400315"/>
            <a:ext cx="2376884" cy="564355"/>
          </a:xfrm>
          <a:prstGeom prst="roundRect">
            <a:avLst/>
          </a:prstGeom>
          <a:solidFill>
            <a:srgbClr val="FF0A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013" dirty="0"/>
          </a:p>
        </p:txBody>
      </p:sp>
      <p:sp>
        <p:nvSpPr>
          <p:cNvPr id="7" name="CaixaDeTexto 6">
            <a:extLst>
              <a:ext uri="{FF2B5EF4-FFF2-40B4-BE49-F238E27FC236}">
                <a16:creationId xmlns:a16="http://schemas.microsoft.com/office/drawing/2014/main" id="{A69BEDEB-95C9-CB07-F001-3DEA9FE4C8D7}"/>
              </a:ext>
            </a:extLst>
          </p:cNvPr>
          <p:cNvSpPr txBox="1"/>
          <p:nvPr/>
        </p:nvSpPr>
        <p:spPr>
          <a:xfrm>
            <a:off x="4902209" y="356836"/>
            <a:ext cx="1596591" cy="646331"/>
          </a:xfrm>
          <a:prstGeom prst="rect">
            <a:avLst/>
          </a:prstGeom>
          <a:noFill/>
        </p:spPr>
        <p:txBody>
          <a:bodyPr wrap="none" rtlCol="0">
            <a:spAutoFit/>
          </a:bodyPr>
          <a:lstStyle/>
          <a:p>
            <a:r>
              <a:rPr lang="pt-BR" b="1" dirty="0">
                <a:solidFill>
                  <a:schemeClr val="bg1"/>
                </a:solidFill>
              </a:rPr>
              <a:t>DevEx Survey</a:t>
            </a:r>
          </a:p>
          <a:p>
            <a:r>
              <a:rPr lang="pt-BR" b="1" dirty="0">
                <a:solidFill>
                  <a:schemeClr val="bg1"/>
                </a:solidFill>
              </a:rPr>
              <a:t>Q1-2025</a:t>
            </a:r>
          </a:p>
        </p:txBody>
      </p:sp>
      <p:sp>
        <p:nvSpPr>
          <p:cNvPr id="13" name="CaixaDeTexto 12">
            <a:extLst>
              <a:ext uri="{FF2B5EF4-FFF2-40B4-BE49-F238E27FC236}">
                <a16:creationId xmlns:a16="http://schemas.microsoft.com/office/drawing/2014/main" id="{D5E212DC-658A-15CC-5061-6AA3350ACD34}"/>
              </a:ext>
            </a:extLst>
          </p:cNvPr>
          <p:cNvSpPr txBox="1"/>
          <p:nvPr/>
        </p:nvSpPr>
        <p:spPr>
          <a:xfrm>
            <a:off x="393892" y="818627"/>
            <a:ext cx="1470274" cy="184666"/>
          </a:xfrm>
          <a:prstGeom prst="rect">
            <a:avLst/>
          </a:prstGeom>
          <a:noFill/>
        </p:spPr>
        <p:txBody>
          <a:bodyPr wrap="none" rtlCol="0">
            <a:spAutoFit/>
          </a:bodyPr>
          <a:lstStyle/>
          <a:p>
            <a:r>
              <a:rPr lang="pt-BR" sz="600" dirty="0">
                <a:solidFill>
                  <a:schemeClr val="bg1"/>
                </a:solidFill>
                <a:cs typeface="Courier New" panose="02070309020205020404" pitchFamily="49" charset="0"/>
              </a:rPr>
              <a:t>&lt;your area/division or company name&gt;</a:t>
            </a:r>
          </a:p>
        </p:txBody>
      </p:sp>
      <p:sp>
        <p:nvSpPr>
          <p:cNvPr id="16" name="CaixaDeTexto 15">
            <a:extLst>
              <a:ext uri="{FF2B5EF4-FFF2-40B4-BE49-F238E27FC236}">
                <a16:creationId xmlns:a16="http://schemas.microsoft.com/office/drawing/2014/main" id="{EF6BD149-4DAB-EC99-470C-4BCC78109525}"/>
              </a:ext>
            </a:extLst>
          </p:cNvPr>
          <p:cNvSpPr txBox="1"/>
          <p:nvPr/>
        </p:nvSpPr>
        <p:spPr>
          <a:xfrm>
            <a:off x="4364715" y="1927209"/>
            <a:ext cx="1802096" cy="400110"/>
          </a:xfrm>
          <a:prstGeom prst="rect">
            <a:avLst/>
          </a:prstGeom>
          <a:noFill/>
        </p:spPr>
        <p:txBody>
          <a:bodyPr wrap="none" rtlCol="0">
            <a:spAutoFit/>
          </a:bodyPr>
          <a:lstStyle/>
          <a:p>
            <a:r>
              <a:rPr lang="pt-BR" sz="1000" dirty="0"/>
              <a:t>Surveyed professionals: 350</a:t>
            </a:r>
          </a:p>
          <a:p>
            <a:r>
              <a:rPr lang="pt-BR" sz="1000" dirty="0"/>
              <a:t>DD/MM/YYYY – DD/MM/YYYY </a:t>
            </a:r>
          </a:p>
        </p:txBody>
      </p:sp>
      <p:grpSp>
        <p:nvGrpSpPr>
          <p:cNvPr id="30" name="Agrupar 29">
            <a:extLst>
              <a:ext uri="{FF2B5EF4-FFF2-40B4-BE49-F238E27FC236}">
                <a16:creationId xmlns:a16="http://schemas.microsoft.com/office/drawing/2014/main" id="{32C329B5-7A12-8337-163D-9611F5DB7990}"/>
              </a:ext>
            </a:extLst>
          </p:cNvPr>
          <p:cNvGrpSpPr/>
          <p:nvPr/>
        </p:nvGrpSpPr>
        <p:grpSpPr>
          <a:xfrm>
            <a:off x="461488" y="1385058"/>
            <a:ext cx="2319099" cy="1546066"/>
            <a:chOff x="1160762" y="1193673"/>
            <a:chExt cx="2319099" cy="1546066"/>
          </a:xfrm>
        </p:grpSpPr>
        <p:graphicFrame>
          <p:nvGraphicFramePr>
            <p:cNvPr id="23" name="Gráfico 22">
              <a:extLst>
                <a:ext uri="{FF2B5EF4-FFF2-40B4-BE49-F238E27FC236}">
                  <a16:creationId xmlns:a16="http://schemas.microsoft.com/office/drawing/2014/main" id="{2F1A65E2-AB64-C3FB-B2EF-2B3330CFE554}"/>
                </a:ext>
              </a:extLst>
            </p:cNvPr>
            <p:cNvGraphicFramePr/>
            <p:nvPr>
              <p:extLst>
                <p:ext uri="{D42A27DB-BD31-4B8C-83A1-F6EECF244321}">
                  <p14:modId xmlns:p14="http://schemas.microsoft.com/office/powerpoint/2010/main" val="3882127566"/>
                </p:ext>
              </p:extLst>
            </p:nvPr>
          </p:nvGraphicFramePr>
          <p:xfrm>
            <a:off x="1160762" y="1193673"/>
            <a:ext cx="2319099" cy="1546066"/>
          </p:xfrm>
          <a:graphic>
            <a:graphicData uri="http://schemas.openxmlformats.org/drawingml/2006/chart">
              <c:chart xmlns:c="http://schemas.openxmlformats.org/drawingml/2006/chart" xmlns:r="http://schemas.openxmlformats.org/officeDocument/2006/relationships" r:id="rId3"/>
            </a:graphicData>
          </a:graphic>
        </p:graphicFrame>
        <p:sp>
          <p:nvSpPr>
            <p:cNvPr id="24" name="CaixaDeTexto 23">
              <a:extLst>
                <a:ext uri="{FF2B5EF4-FFF2-40B4-BE49-F238E27FC236}">
                  <a16:creationId xmlns:a16="http://schemas.microsoft.com/office/drawing/2014/main" id="{35023399-0555-6F60-7DD0-0BE483F93A74}"/>
                </a:ext>
              </a:extLst>
            </p:cNvPr>
            <p:cNvSpPr txBox="1"/>
            <p:nvPr/>
          </p:nvSpPr>
          <p:spPr>
            <a:xfrm>
              <a:off x="2073598" y="1821278"/>
              <a:ext cx="500458" cy="369332"/>
            </a:xfrm>
            <a:prstGeom prst="rect">
              <a:avLst/>
            </a:prstGeom>
            <a:noFill/>
          </p:spPr>
          <p:txBody>
            <a:bodyPr wrap="none" rtlCol="0">
              <a:spAutoFit/>
            </a:bodyPr>
            <a:lstStyle/>
            <a:p>
              <a:r>
                <a:rPr lang="pt-BR" b="1" dirty="0">
                  <a:solidFill>
                    <a:srgbClr val="FF0A8C"/>
                  </a:solidFill>
                </a:rPr>
                <a:t>7.5</a:t>
              </a:r>
            </a:p>
          </p:txBody>
        </p:sp>
      </p:grpSp>
      <p:grpSp>
        <p:nvGrpSpPr>
          <p:cNvPr id="29" name="Agrupar 28">
            <a:extLst>
              <a:ext uri="{FF2B5EF4-FFF2-40B4-BE49-F238E27FC236}">
                <a16:creationId xmlns:a16="http://schemas.microsoft.com/office/drawing/2014/main" id="{D0C2691F-5745-93FE-20AE-A456FAA08112}"/>
              </a:ext>
            </a:extLst>
          </p:cNvPr>
          <p:cNvGrpSpPr/>
          <p:nvPr/>
        </p:nvGrpSpPr>
        <p:grpSpPr>
          <a:xfrm>
            <a:off x="2307985" y="1385058"/>
            <a:ext cx="2319099" cy="1546066"/>
            <a:chOff x="3065986" y="1193673"/>
            <a:chExt cx="2319099" cy="1546066"/>
          </a:xfrm>
        </p:grpSpPr>
        <p:graphicFrame>
          <p:nvGraphicFramePr>
            <p:cNvPr id="25" name="Gráfico 24">
              <a:extLst>
                <a:ext uri="{FF2B5EF4-FFF2-40B4-BE49-F238E27FC236}">
                  <a16:creationId xmlns:a16="http://schemas.microsoft.com/office/drawing/2014/main" id="{30DDF6DF-6194-ED4B-9E20-E04AD5B51999}"/>
                </a:ext>
              </a:extLst>
            </p:cNvPr>
            <p:cNvGraphicFramePr/>
            <p:nvPr>
              <p:extLst>
                <p:ext uri="{D42A27DB-BD31-4B8C-83A1-F6EECF244321}">
                  <p14:modId xmlns:p14="http://schemas.microsoft.com/office/powerpoint/2010/main" val="2329984432"/>
                </p:ext>
              </p:extLst>
            </p:nvPr>
          </p:nvGraphicFramePr>
          <p:xfrm>
            <a:off x="3065986" y="1193673"/>
            <a:ext cx="2319099" cy="1546066"/>
          </p:xfrm>
          <a:graphic>
            <a:graphicData uri="http://schemas.openxmlformats.org/drawingml/2006/chart">
              <c:chart xmlns:c="http://schemas.openxmlformats.org/drawingml/2006/chart" xmlns:r="http://schemas.openxmlformats.org/officeDocument/2006/relationships" r:id="rId4"/>
            </a:graphicData>
          </a:graphic>
        </p:graphicFrame>
        <p:sp>
          <p:nvSpPr>
            <p:cNvPr id="27" name="CaixaDeTexto 26">
              <a:extLst>
                <a:ext uri="{FF2B5EF4-FFF2-40B4-BE49-F238E27FC236}">
                  <a16:creationId xmlns:a16="http://schemas.microsoft.com/office/drawing/2014/main" id="{9FC92356-FC50-79DB-1D40-7A0B7587E25E}"/>
                </a:ext>
              </a:extLst>
            </p:cNvPr>
            <p:cNvSpPr txBox="1"/>
            <p:nvPr/>
          </p:nvSpPr>
          <p:spPr>
            <a:xfrm>
              <a:off x="3978822" y="1821278"/>
              <a:ext cx="500458" cy="369332"/>
            </a:xfrm>
            <a:prstGeom prst="rect">
              <a:avLst/>
            </a:prstGeom>
            <a:noFill/>
          </p:spPr>
          <p:txBody>
            <a:bodyPr wrap="none" rtlCol="0">
              <a:spAutoFit/>
            </a:bodyPr>
            <a:lstStyle/>
            <a:p>
              <a:r>
                <a:rPr lang="pt-BR" b="1" dirty="0">
                  <a:solidFill>
                    <a:srgbClr val="FF0A8C"/>
                  </a:solidFill>
                </a:rPr>
                <a:t>8.2</a:t>
              </a:r>
            </a:p>
          </p:txBody>
        </p:sp>
      </p:grpSp>
      <p:sp>
        <p:nvSpPr>
          <p:cNvPr id="28" name="CaixaDeTexto 27">
            <a:extLst>
              <a:ext uri="{FF2B5EF4-FFF2-40B4-BE49-F238E27FC236}">
                <a16:creationId xmlns:a16="http://schemas.microsoft.com/office/drawing/2014/main" id="{B6D76A6D-B7C7-EF99-A8DD-1F92F19037AC}"/>
              </a:ext>
            </a:extLst>
          </p:cNvPr>
          <p:cNvSpPr txBox="1"/>
          <p:nvPr/>
        </p:nvSpPr>
        <p:spPr>
          <a:xfrm rot="16200000">
            <a:off x="147515" y="1946234"/>
            <a:ext cx="1196738" cy="307777"/>
          </a:xfrm>
          <a:prstGeom prst="rect">
            <a:avLst/>
          </a:prstGeom>
          <a:noFill/>
        </p:spPr>
        <p:txBody>
          <a:bodyPr wrap="none" rtlCol="0">
            <a:spAutoFit/>
          </a:bodyPr>
          <a:lstStyle/>
          <a:p>
            <a:r>
              <a:rPr lang="pt-BR" sz="1400" b="1" dirty="0"/>
              <a:t>DevEx Score</a:t>
            </a:r>
          </a:p>
        </p:txBody>
      </p:sp>
      <p:sp>
        <p:nvSpPr>
          <p:cNvPr id="19" name="Seta: para a Direita 18">
            <a:extLst>
              <a:ext uri="{FF2B5EF4-FFF2-40B4-BE49-F238E27FC236}">
                <a16:creationId xmlns:a16="http://schemas.microsoft.com/office/drawing/2014/main" id="{67412E96-4EED-2FB4-3B5B-AFD284C29C5E}"/>
              </a:ext>
            </a:extLst>
          </p:cNvPr>
          <p:cNvSpPr/>
          <p:nvPr/>
        </p:nvSpPr>
        <p:spPr>
          <a:xfrm>
            <a:off x="2405860" y="2036977"/>
            <a:ext cx="306335" cy="242228"/>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1" name="Retângulo: Cantos Arredondados 30">
            <a:extLst>
              <a:ext uri="{FF2B5EF4-FFF2-40B4-BE49-F238E27FC236}">
                <a16:creationId xmlns:a16="http://schemas.microsoft.com/office/drawing/2014/main" id="{3556DAD0-E040-A83A-BE6B-E207BAC95C82}"/>
              </a:ext>
            </a:extLst>
          </p:cNvPr>
          <p:cNvSpPr/>
          <p:nvPr/>
        </p:nvSpPr>
        <p:spPr>
          <a:xfrm>
            <a:off x="4260851" y="1869029"/>
            <a:ext cx="1951180" cy="512977"/>
          </a:xfrm>
          <a:prstGeom prst="roundRect">
            <a:avLst/>
          </a:prstGeom>
          <a:no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Retângulo 31">
            <a:extLst>
              <a:ext uri="{FF2B5EF4-FFF2-40B4-BE49-F238E27FC236}">
                <a16:creationId xmlns:a16="http://schemas.microsoft.com/office/drawing/2014/main" id="{110658C3-131E-41AF-98DA-60C8C1614E97}"/>
              </a:ext>
            </a:extLst>
          </p:cNvPr>
          <p:cNvSpPr/>
          <p:nvPr/>
        </p:nvSpPr>
        <p:spPr>
          <a:xfrm>
            <a:off x="440268" y="3009611"/>
            <a:ext cx="5977466" cy="2395215"/>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3" name="CaixaDeTexto 32">
            <a:extLst>
              <a:ext uri="{FF2B5EF4-FFF2-40B4-BE49-F238E27FC236}">
                <a16:creationId xmlns:a16="http://schemas.microsoft.com/office/drawing/2014/main" id="{B4E6D9B2-24C1-36A8-D927-70A8F9A05068}"/>
              </a:ext>
            </a:extLst>
          </p:cNvPr>
          <p:cNvSpPr txBox="1"/>
          <p:nvPr/>
        </p:nvSpPr>
        <p:spPr>
          <a:xfrm>
            <a:off x="887889" y="3067479"/>
            <a:ext cx="2220369" cy="461665"/>
          </a:xfrm>
          <a:prstGeom prst="rect">
            <a:avLst/>
          </a:prstGeom>
          <a:noFill/>
        </p:spPr>
        <p:txBody>
          <a:bodyPr wrap="square" rtlCol="0">
            <a:spAutoFit/>
          </a:bodyPr>
          <a:lstStyle/>
          <a:p>
            <a:pPr algn="ctr"/>
            <a:r>
              <a:rPr lang="en-US" sz="1200" b="1" dirty="0"/>
              <a:t>Are you a &lt;company name&gt;  employee? (Yes/No)</a:t>
            </a:r>
          </a:p>
        </p:txBody>
      </p:sp>
      <p:sp>
        <p:nvSpPr>
          <p:cNvPr id="34" name="CaixaDeTexto 33">
            <a:extLst>
              <a:ext uri="{FF2B5EF4-FFF2-40B4-BE49-F238E27FC236}">
                <a16:creationId xmlns:a16="http://schemas.microsoft.com/office/drawing/2014/main" id="{B2C10D96-29AA-67DC-E3A3-5CB8DF49AF94}"/>
              </a:ext>
            </a:extLst>
          </p:cNvPr>
          <p:cNvSpPr txBox="1"/>
          <p:nvPr/>
        </p:nvSpPr>
        <p:spPr>
          <a:xfrm>
            <a:off x="4162975" y="3067479"/>
            <a:ext cx="1757919" cy="461665"/>
          </a:xfrm>
          <a:prstGeom prst="rect">
            <a:avLst/>
          </a:prstGeom>
          <a:noFill/>
        </p:spPr>
        <p:txBody>
          <a:bodyPr wrap="square" rtlCol="0">
            <a:spAutoFit/>
          </a:bodyPr>
          <a:lstStyle/>
          <a:p>
            <a:pPr algn="ctr"/>
            <a:r>
              <a:rPr lang="en-US" sz="1200" b="1" dirty="0"/>
              <a:t>What is your area of operation?</a:t>
            </a:r>
          </a:p>
        </p:txBody>
      </p:sp>
      <p:graphicFrame>
        <p:nvGraphicFramePr>
          <p:cNvPr id="37" name="Gráfico 36">
            <a:extLst>
              <a:ext uri="{FF2B5EF4-FFF2-40B4-BE49-F238E27FC236}">
                <a16:creationId xmlns:a16="http://schemas.microsoft.com/office/drawing/2014/main" id="{2C8552DC-2FFD-C397-7028-71BFA0130C29}"/>
              </a:ext>
            </a:extLst>
          </p:cNvPr>
          <p:cNvGraphicFramePr/>
          <p:nvPr>
            <p:extLst>
              <p:ext uri="{D42A27DB-BD31-4B8C-83A1-F6EECF244321}">
                <p14:modId xmlns:p14="http://schemas.microsoft.com/office/powerpoint/2010/main" val="2567690735"/>
              </p:ext>
            </p:extLst>
          </p:nvPr>
        </p:nvGraphicFramePr>
        <p:xfrm>
          <a:off x="333673" y="3467088"/>
          <a:ext cx="2819115" cy="187941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8" name="Gráfico 37">
            <a:extLst>
              <a:ext uri="{FF2B5EF4-FFF2-40B4-BE49-F238E27FC236}">
                <a16:creationId xmlns:a16="http://schemas.microsoft.com/office/drawing/2014/main" id="{CAFBB46B-97D9-24FD-DDA5-49D46D78E5B6}"/>
              </a:ext>
            </a:extLst>
          </p:cNvPr>
          <p:cNvGraphicFramePr/>
          <p:nvPr>
            <p:extLst>
              <p:ext uri="{D42A27DB-BD31-4B8C-83A1-F6EECF244321}">
                <p14:modId xmlns:p14="http://schemas.microsoft.com/office/powerpoint/2010/main" val="3088620002"/>
              </p:ext>
            </p:extLst>
          </p:nvPr>
        </p:nvGraphicFramePr>
        <p:xfrm>
          <a:off x="3217527" y="3460997"/>
          <a:ext cx="2819115" cy="1879410"/>
        </p:xfrm>
        <a:graphic>
          <a:graphicData uri="http://schemas.openxmlformats.org/drawingml/2006/chart">
            <c:chart xmlns:c="http://schemas.openxmlformats.org/drawingml/2006/chart" xmlns:r="http://schemas.openxmlformats.org/officeDocument/2006/relationships" r:id="rId6"/>
          </a:graphicData>
        </a:graphic>
      </p:graphicFrame>
      <p:sp>
        <p:nvSpPr>
          <p:cNvPr id="39" name="Balão de Fala: Retângulo com Cantos Arredondados 38">
            <a:extLst>
              <a:ext uri="{FF2B5EF4-FFF2-40B4-BE49-F238E27FC236}">
                <a16:creationId xmlns:a16="http://schemas.microsoft.com/office/drawing/2014/main" id="{495FA97D-6F5F-8358-F843-FFE3E11D361A}"/>
              </a:ext>
            </a:extLst>
          </p:cNvPr>
          <p:cNvSpPr/>
          <p:nvPr/>
        </p:nvSpPr>
        <p:spPr>
          <a:xfrm>
            <a:off x="1237237" y="5250920"/>
            <a:ext cx="1185259" cy="419496"/>
          </a:xfrm>
          <a:prstGeom prst="wedgeRoundRectCallout">
            <a:avLst>
              <a:gd name="adj1" fmla="val 8951"/>
              <a:gd name="adj2" fmla="val -102186"/>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&lt;describe your insight&gt;</a:t>
            </a:r>
          </a:p>
        </p:txBody>
      </p:sp>
      <p:sp>
        <p:nvSpPr>
          <p:cNvPr id="40" name="Balão de Fala: Retângulo com Cantos Arredondados 39">
            <a:extLst>
              <a:ext uri="{FF2B5EF4-FFF2-40B4-BE49-F238E27FC236}">
                <a16:creationId xmlns:a16="http://schemas.microsoft.com/office/drawing/2014/main" id="{C5D20658-63FD-D968-837B-60C1584C57A4}"/>
              </a:ext>
            </a:extLst>
          </p:cNvPr>
          <p:cNvSpPr/>
          <p:nvPr/>
        </p:nvSpPr>
        <p:spPr>
          <a:xfrm>
            <a:off x="4449305" y="5235987"/>
            <a:ext cx="1185259" cy="419496"/>
          </a:xfrm>
          <a:prstGeom prst="wedgeRoundRectCallout">
            <a:avLst>
              <a:gd name="adj1" fmla="val 8951"/>
              <a:gd name="adj2" fmla="val -102186"/>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&lt;describe your insight&gt;</a:t>
            </a:r>
          </a:p>
        </p:txBody>
      </p:sp>
      <p:sp>
        <p:nvSpPr>
          <p:cNvPr id="41" name="Retângulo 40">
            <a:extLst>
              <a:ext uri="{FF2B5EF4-FFF2-40B4-BE49-F238E27FC236}">
                <a16:creationId xmlns:a16="http://schemas.microsoft.com/office/drawing/2014/main" id="{D4773907-591B-E5E9-09B2-02BA23C96335}"/>
              </a:ext>
            </a:extLst>
          </p:cNvPr>
          <p:cNvSpPr/>
          <p:nvPr/>
        </p:nvSpPr>
        <p:spPr>
          <a:xfrm>
            <a:off x="440268" y="5777420"/>
            <a:ext cx="5977466" cy="2395215"/>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42" name="CaixaDeTexto 41">
            <a:extLst>
              <a:ext uri="{FF2B5EF4-FFF2-40B4-BE49-F238E27FC236}">
                <a16:creationId xmlns:a16="http://schemas.microsoft.com/office/drawing/2014/main" id="{712F9588-91F2-F7A6-D9A4-E90BD3C09FF1}"/>
              </a:ext>
            </a:extLst>
          </p:cNvPr>
          <p:cNvSpPr txBox="1"/>
          <p:nvPr/>
        </p:nvSpPr>
        <p:spPr>
          <a:xfrm>
            <a:off x="859313" y="5856225"/>
            <a:ext cx="2220369" cy="461665"/>
          </a:xfrm>
          <a:prstGeom prst="rect">
            <a:avLst/>
          </a:prstGeom>
          <a:noFill/>
        </p:spPr>
        <p:txBody>
          <a:bodyPr wrap="square" rtlCol="0">
            <a:spAutoFit/>
          </a:bodyPr>
          <a:lstStyle/>
          <a:p>
            <a:pPr algn="ctr"/>
            <a:r>
              <a:rPr lang="en-US" sz="1200" b="1" dirty="0"/>
              <a:t>Survey Respondents by Score</a:t>
            </a:r>
          </a:p>
        </p:txBody>
      </p:sp>
      <p:sp>
        <p:nvSpPr>
          <p:cNvPr id="43" name="CaixaDeTexto 42">
            <a:extLst>
              <a:ext uri="{FF2B5EF4-FFF2-40B4-BE49-F238E27FC236}">
                <a16:creationId xmlns:a16="http://schemas.microsoft.com/office/drawing/2014/main" id="{313DE5B8-685A-6D96-FAB6-184CED22961A}"/>
              </a:ext>
            </a:extLst>
          </p:cNvPr>
          <p:cNvSpPr txBox="1"/>
          <p:nvPr/>
        </p:nvSpPr>
        <p:spPr>
          <a:xfrm>
            <a:off x="3816273" y="5856224"/>
            <a:ext cx="2220369" cy="276999"/>
          </a:xfrm>
          <a:prstGeom prst="rect">
            <a:avLst/>
          </a:prstGeom>
          <a:noFill/>
        </p:spPr>
        <p:txBody>
          <a:bodyPr wrap="square" rtlCol="0">
            <a:spAutoFit/>
          </a:bodyPr>
          <a:lstStyle/>
          <a:p>
            <a:pPr algn="ctr"/>
            <a:r>
              <a:rPr lang="en-US" sz="1200" b="1" dirty="0"/>
              <a:t>Average Score by Area</a:t>
            </a:r>
          </a:p>
        </p:txBody>
      </p:sp>
      <p:graphicFrame>
        <p:nvGraphicFramePr>
          <p:cNvPr id="44" name="Gráfico 43">
            <a:extLst>
              <a:ext uri="{FF2B5EF4-FFF2-40B4-BE49-F238E27FC236}">
                <a16:creationId xmlns:a16="http://schemas.microsoft.com/office/drawing/2014/main" id="{D5F883D6-8E4F-2928-7239-D163B07F0283}"/>
              </a:ext>
            </a:extLst>
          </p:cNvPr>
          <p:cNvGraphicFramePr/>
          <p:nvPr>
            <p:extLst>
              <p:ext uri="{D42A27DB-BD31-4B8C-83A1-F6EECF244321}">
                <p14:modId xmlns:p14="http://schemas.microsoft.com/office/powerpoint/2010/main" val="1022898019"/>
              </p:ext>
            </p:extLst>
          </p:nvPr>
        </p:nvGraphicFramePr>
        <p:xfrm>
          <a:off x="3467535" y="6190286"/>
          <a:ext cx="2819115" cy="2089328"/>
        </p:xfrm>
        <a:graphic>
          <a:graphicData uri="http://schemas.openxmlformats.org/drawingml/2006/chart">
            <c:chart xmlns:c="http://schemas.openxmlformats.org/drawingml/2006/chart" xmlns:r="http://schemas.openxmlformats.org/officeDocument/2006/relationships" r:id="rId7"/>
          </a:graphicData>
        </a:graphic>
      </p:graphicFrame>
      <p:sp>
        <p:nvSpPr>
          <p:cNvPr id="45" name="Balão de Fala: Retângulo com Cantos Arredondados 44">
            <a:extLst>
              <a:ext uri="{FF2B5EF4-FFF2-40B4-BE49-F238E27FC236}">
                <a16:creationId xmlns:a16="http://schemas.microsoft.com/office/drawing/2014/main" id="{C8F68FC2-D02B-5FE0-F588-6ADA3AA31076}"/>
              </a:ext>
            </a:extLst>
          </p:cNvPr>
          <p:cNvSpPr/>
          <p:nvPr/>
        </p:nvSpPr>
        <p:spPr>
          <a:xfrm>
            <a:off x="4528236" y="8154493"/>
            <a:ext cx="1392658" cy="636174"/>
          </a:xfrm>
          <a:prstGeom prst="wedgeRoundRectCallout">
            <a:avLst>
              <a:gd name="adj1" fmla="val -21408"/>
              <a:gd name="adj2" fmla="val -83352"/>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&lt;describe your insight&gt;</a:t>
            </a:r>
          </a:p>
        </p:txBody>
      </p:sp>
      <p:graphicFrame>
        <p:nvGraphicFramePr>
          <p:cNvPr id="46" name="Gráfico 45">
            <a:extLst>
              <a:ext uri="{FF2B5EF4-FFF2-40B4-BE49-F238E27FC236}">
                <a16:creationId xmlns:a16="http://schemas.microsoft.com/office/drawing/2014/main" id="{57A761C9-40BC-1B66-6484-7696788D0511}"/>
              </a:ext>
            </a:extLst>
          </p:cNvPr>
          <p:cNvGraphicFramePr/>
          <p:nvPr>
            <p:extLst>
              <p:ext uri="{D42A27DB-BD31-4B8C-83A1-F6EECF244321}">
                <p14:modId xmlns:p14="http://schemas.microsoft.com/office/powerpoint/2010/main" val="1167550752"/>
              </p:ext>
            </p:extLst>
          </p:nvPr>
        </p:nvGraphicFramePr>
        <p:xfrm>
          <a:off x="544350" y="6190286"/>
          <a:ext cx="2819115" cy="2089328"/>
        </p:xfrm>
        <a:graphic>
          <a:graphicData uri="http://schemas.openxmlformats.org/drawingml/2006/chart">
            <c:chart xmlns:c="http://schemas.openxmlformats.org/drawingml/2006/chart" xmlns:r="http://schemas.openxmlformats.org/officeDocument/2006/relationships" r:id="rId8"/>
          </a:graphicData>
        </a:graphic>
      </p:graphicFrame>
      <p:sp>
        <p:nvSpPr>
          <p:cNvPr id="47" name="Balão de Fala: Retângulo com Cantos Arredondados 46">
            <a:extLst>
              <a:ext uri="{FF2B5EF4-FFF2-40B4-BE49-F238E27FC236}">
                <a16:creationId xmlns:a16="http://schemas.microsoft.com/office/drawing/2014/main" id="{2334A992-D47C-6599-22E9-8113DA35836C}"/>
              </a:ext>
            </a:extLst>
          </p:cNvPr>
          <p:cNvSpPr/>
          <p:nvPr/>
        </p:nvSpPr>
        <p:spPr>
          <a:xfrm>
            <a:off x="615947" y="8125721"/>
            <a:ext cx="1428753" cy="693718"/>
          </a:xfrm>
          <a:prstGeom prst="wedgeRoundRectCallout">
            <a:avLst>
              <a:gd name="adj1" fmla="val -21408"/>
              <a:gd name="adj2" fmla="val -80963"/>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&lt;describe your insight&gt;</a:t>
            </a:r>
          </a:p>
        </p:txBody>
      </p:sp>
      <p:sp>
        <p:nvSpPr>
          <p:cNvPr id="48" name="Balão de Fala: Retângulo com Cantos Arredondados 47">
            <a:extLst>
              <a:ext uri="{FF2B5EF4-FFF2-40B4-BE49-F238E27FC236}">
                <a16:creationId xmlns:a16="http://schemas.microsoft.com/office/drawing/2014/main" id="{C7989A18-2678-518B-EE54-482662C04206}"/>
              </a:ext>
            </a:extLst>
          </p:cNvPr>
          <p:cNvSpPr/>
          <p:nvPr/>
        </p:nvSpPr>
        <p:spPr>
          <a:xfrm>
            <a:off x="2426723" y="8147993"/>
            <a:ext cx="1428753" cy="671446"/>
          </a:xfrm>
          <a:prstGeom prst="wedgeRoundRectCallout">
            <a:avLst>
              <a:gd name="adj1" fmla="val -21408"/>
              <a:gd name="adj2" fmla="val -81880"/>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&lt;describe your insight&gt;</a:t>
            </a:r>
          </a:p>
        </p:txBody>
      </p:sp>
      <p:pic>
        <p:nvPicPr>
          <p:cNvPr id="2" name="Gráfico 7">
            <a:extLst>
              <a:ext uri="{FF2B5EF4-FFF2-40B4-BE49-F238E27FC236}">
                <a16:creationId xmlns:a16="http://schemas.microsoft.com/office/drawing/2014/main" id="{688A537A-660E-3D1C-76C9-5E3270DE530D}"/>
              </a:ext>
            </a:extLst>
          </p:cNvPr>
          <p:cNvPicPr>
            <a:picLocks noChangeAspect="1"/>
          </p:cNvPicPr>
          <p:nvPr/>
        </p:nvPicPr>
        <p:blipFill rotWithShape="1">
          <a:blip r:embed="rId9">
            <a:extLst>
              <a:ext uri="{96DAC541-7B7A-43D3-8B79-37D633B846F1}">
                <asvg:svgBlip xmlns:asvg="http://schemas.microsoft.com/office/drawing/2016/SVG/main" r:embed="rId10"/>
              </a:ext>
            </a:extLst>
          </a:blip>
          <a:srcRect l="9713" t="30386" r="69164" b="28840"/>
          <a:stretch/>
        </p:blipFill>
        <p:spPr>
          <a:xfrm>
            <a:off x="390082" y="9142267"/>
            <a:ext cx="509691" cy="522434"/>
          </a:xfrm>
          <a:prstGeom prst="rect">
            <a:avLst/>
          </a:prstGeom>
        </p:spPr>
      </p:pic>
      <p:sp>
        <p:nvSpPr>
          <p:cNvPr id="3" name="CaixaDeTexto 2">
            <a:extLst>
              <a:ext uri="{FF2B5EF4-FFF2-40B4-BE49-F238E27FC236}">
                <a16:creationId xmlns:a16="http://schemas.microsoft.com/office/drawing/2014/main" id="{B3B6DA94-D006-AED1-15FD-BDCC1B770A1B}"/>
              </a:ext>
            </a:extLst>
          </p:cNvPr>
          <p:cNvSpPr txBox="1"/>
          <p:nvPr/>
        </p:nvSpPr>
        <p:spPr>
          <a:xfrm>
            <a:off x="859313" y="9222412"/>
            <a:ext cx="1633781" cy="400110"/>
          </a:xfrm>
          <a:prstGeom prst="rect">
            <a:avLst/>
          </a:prstGeom>
          <a:noFill/>
        </p:spPr>
        <p:txBody>
          <a:bodyPr wrap="none" rtlCol="0">
            <a:spAutoFit/>
          </a:bodyPr>
          <a:lstStyle/>
          <a:p>
            <a:r>
              <a:rPr lang="pt-BR" sz="1000" dirty="0">
                <a:solidFill>
                  <a:schemeClr val="bg1"/>
                </a:solidFill>
              </a:rPr>
              <a:t>Template offered by Livelo</a:t>
            </a:r>
          </a:p>
          <a:p>
            <a:r>
              <a:rPr lang="pt-BR" sz="1000" dirty="0">
                <a:solidFill>
                  <a:schemeClr val="bg1"/>
                </a:solidFill>
              </a:rPr>
              <a:t>www.livelo.com.br</a:t>
            </a:r>
          </a:p>
        </p:txBody>
      </p:sp>
      <p:sp>
        <p:nvSpPr>
          <p:cNvPr id="10" name="CaixaDeTexto 9">
            <a:extLst>
              <a:ext uri="{FF2B5EF4-FFF2-40B4-BE49-F238E27FC236}">
                <a16:creationId xmlns:a16="http://schemas.microsoft.com/office/drawing/2014/main" id="{AAA7C1E0-E930-7FF2-B991-FC3DE3FBD7AE}"/>
              </a:ext>
            </a:extLst>
          </p:cNvPr>
          <p:cNvSpPr txBox="1"/>
          <p:nvPr/>
        </p:nvSpPr>
        <p:spPr>
          <a:xfrm>
            <a:off x="374922" y="463141"/>
            <a:ext cx="2251899" cy="369332"/>
          </a:xfrm>
          <a:prstGeom prst="rect">
            <a:avLst/>
          </a:prstGeom>
          <a:noFill/>
        </p:spPr>
        <p:txBody>
          <a:bodyPr wrap="none" rtlCol="0">
            <a:spAutoFit/>
          </a:bodyPr>
          <a:lstStyle/>
          <a:p>
            <a:r>
              <a:rPr lang="pt-BR" dirty="0">
                <a:solidFill>
                  <a:schemeClr val="bg1"/>
                </a:solidFill>
                <a:highlight>
                  <a:srgbClr val="FF0A8C"/>
                </a:highlight>
              </a:rPr>
              <a:t>&lt;put your logo here&gt;</a:t>
            </a:r>
          </a:p>
        </p:txBody>
      </p:sp>
    </p:spTree>
    <p:extLst>
      <p:ext uri="{BB962C8B-B14F-4D97-AF65-F5344CB8AC3E}">
        <p14:creationId xmlns:p14="http://schemas.microsoft.com/office/powerpoint/2010/main" val="139899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4062C"/>
        </a:solidFill>
        <a:effectLst/>
      </p:bgPr>
    </p:bg>
    <p:spTree>
      <p:nvGrpSpPr>
        <p:cNvPr id="1" name="">
          <a:extLst>
            <a:ext uri="{FF2B5EF4-FFF2-40B4-BE49-F238E27FC236}">
              <a16:creationId xmlns:a16="http://schemas.microsoft.com/office/drawing/2014/main" id="{179ED5A4-ECE3-5B32-CDE3-2DC2BB74ED67}"/>
            </a:ext>
          </a:extLst>
        </p:cNvPr>
        <p:cNvGrpSpPr/>
        <p:nvPr/>
      </p:nvGrpSpPr>
      <p:grpSpPr>
        <a:xfrm>
          <a:off x="0" y="0"/>
          <a:ext cx="0" cy="0"/>
          <a:chOff x="0" y="0"/>
          <a:chExt cx="0" cy="0"/>
        </a:xfrm>
      </p:grpSpPr>
      <p:sp>
        <p:nvSpPr>
          <p:cNvPr id="14" name="Retângulo 13">
            <a:extLst>
              <a:ext uri="{FF2B5EF4-FFF2-40B4-BE49-F238E27FC236}">
                <a16:creationId xmlns:a16="http://schemas.microsoft.com/office/drawing/2014/main" id="{C8C1C00D-FC10-C354-3D31-C217B88BC3DF}"/>
              </a:ext>
            </a:extLst>
          </p:cNvPr>
          <p:cNvSpPr/>
          <p:nvPr/>
        </p:nvSpPr>
        <p:spPr>
          <a:xfrm>
            <a:off x="440268" y="4747675"/>
            <a:ext cx="5977466" cy="3914071"/>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aphicFrame>
        <p:nvGraphicFramePr>
          <p:cNvPr id="17" name="Gráfico 16">
            <a:extLst>
              <a:ext uri="{FF2B5EF4-FFF2-40B4-BE49-F238E27FC236}">
                <a16:creationId xmlns:a16="http://schemas.microsoft.com/office/drawing/2014/main" id="{76B4796E-121C-538A-A469-4943A7F2005E}"/>
              </a:ext>
            </a:extLst>
          </p:cNvPr>
          <p:cNvGraphicFramePr/>
          <p:nvPr>
            <p:extLst>
              <p:ext uri="{D42A27DB-BD31-4B8C-83A1-F6EECF244321}">
                <p14:modId xmlns:p14="http://schemas.microsoft.com/office/powerpoint/2010/main" val="1917476134"/>
              </p:ext>
            </p:extLst>
          </p:nvPr>
        </p:nvGraphicFramePr>
        <p:xfrm>
          <a:off x="740896" y="4817080"/>
          <a:ext cx="5434479" cy="3133673"/>
        </p:xfrm>
        <a:graphic>
          <a:graphicData uri="http://schemas.openxmlformats.org/drawingml/2006/chart">
            <c:chart xmlns:c="http://schemas.openxmlformats.org/drawingml/2006/chart" xmlns:r="http://schemas.openxmlformats.org/officeDocument/2006/relationships" r:id="rId3"/>
          </a:graphicData>
        </a:graphic>
      </p:graphicFrame>
      <p:sp>
        <p:nvSpPr>
          <p:cNvPr id="32" name="Retângulo 31">
            <a:extLst>
              <a:ext uri="{FF2B5EF4-FFF2-40B4-BE49-F238E27FC236}">
                <a16:creationId xmlns:a16="http://schemas.microsoft.com/office/drawing/2014/main" id="{5BDBE4AB-6713-E4BB-5FD7-67B69C5F93D8}"/>
              </a:ext>
            </a:extLst>
          </p:cNvPr>
          <p:cNvSpPr/>
          <p:nvPr/>
        </p:nvSpPr>
        <p:spPr>
          <a:xfrm>
            <a:off x="440268" y="522186"/>
            <a:ext cx="5977466" cy="3855659"/>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aphicFrame>
        <p:nvGraphicFramePr>
          <p:cNvPr id="4" name="Gráfico 3">
            <a:extLst>
              <a:ext uri="{FF2B5EF4-FFF2-40B4-BE49-F238E27FC236}">
                <a16:creationId xmlns:a16="http://schemas.microsoft.com/office/drawing/2014/main" id="{3558B350-A3A5-A73E-58C4-75119790FFF7}"/>
              </a:ext>
            </a:extLst>
          </p:cNvPr>
          <p:cNvGraphicFramePr/>
          <p:nvPr>
            <p:extLst>
              <p:ext uri="{D42A27DB-BD31-4B8C-83A1-F6EECF244321}">
                <p14:modId xmlns:p14="http://schemas.microsoft.com/office/powerpoint/2010/main" val="2116349131"/>
              </p:ext>
            </p:extLst>
          </p:nvPr>
        </p:nvGraphicFramePr>
        <p:xfrm>
          <a:off x="740896" y="591591"/>
          <a:ext cx="5434479" cy="3078939"/>
        </p:xfrm>
        <a:graphic>
          <a:graphicData uri="http://schemas.openxmlformats.org/drawingml/2006/chart">
            <c:chart xmlns:c="http://schemas.openxmlformats.org/drawingml/2006/chart" xmlns:r="http://schemas.openxmlformats.org/officeDocument/2006/relationships" r:id="rId4"/>
          </a:graphicData>
        </a:graphic>
      </p:graphicFrame>
      <p:sp>
        <p:nvSpPr>
          <p:cNvPr id="33" name="CaixaDeTexto 32">
            <a:extLst>
              <a:ext uri="{FF2B5EF4-FFF2-40B4-BE49-F238E27FC236}">
                <a16:creationId xmlns:a16="http://schemas.microsoft.com/office/drawing/2014/main" id="{365C15B2-F93D-8BD9-D396-1E3C634D94D4}"/>
              </a:ext>
            </a:extLst>
          </p:cNvPr>
          <p:cNvSpPr txBox="1"/>
          <p:nvPr/>
        </p:nvSpPr>
        <p:spPr>
          <a:xfrm>
            <a:off x="2169059" y="580055"/>
            <a:ext cx="2519885" cy="461665"/>
          </a:xfrm>
          <a:prstGeom prst="rect">
            <a:avLst/>
          </a:prstGeom>
          <a:noFill/>
        </p:spPr>
        <p:txBody>
          <a:bodyPr wrap="square" rtlCol="0">
            <a:spAutoFit/>
          </a:bodyPr>
          <a:lstStyle/>
          <a:p>
            <a:pPr algn="ctr"/>
            <a:r>
              <a:rPr lang="en-US" sz="1200" b="1" dirty="0"/>
              <a:t>Top Challenges and Opportunities</a:t>
            </a:r>
          </a:p>
        </p:txBody>
      </p:sp>
      <p:pic>
        <p:nvPicPr>
          <p:cNvPr id="2" name="Gráfico 7">
            <a:extLst>
              <a:ext uri="{FF2B5EF4-FFF2-40B4-BE49-F238E27FC236}">
                <a16:creationId xmlns:a16="http://schemas.microsoft.com/office/drawing/2014/main" id="{83F734D6-D18B-94B8-5134-70CFA10AB404}"/>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9713" t="30386" r="69164" b="28840"/>
          <a:stretch/>
        </p:blipFill>
        <p:spPr>
          <a:xfrm>
            <a:off x="390082" y="9142267"/>
            <a:ext cx="509691" cy="522434"/>
          </a:xfrm>
          <a:prstGeom prst="rect">
            <a:avLst/>
          </a:prstGeom>
        </p:spPr>
      </p:pic>
      <p:sp>
        <p:nvSpPr>
          <p:cNvPr id="3" name="CaixaDeTexto 2">
            <a:extLst>
              <a:ext uri="{FF2B5EF4-FFF2-40B4-BE49-F238E27FC236}">
                <a16:creationId xmlns:a16="http://schemas.microsoft.com/office/drawing/2014/main" id="{E364D4D8-4074-7CA5-BF3F-306445EC54C3}"/>
              </a:ext>
            </a:extLst>
          </p:cNvPr>
          <p:cNvSpPr txBox="1"/>
          <p:nvPr/>
        </p:nvSpPr>
        <p:spPr>
          <a:xfrm>
            <a:off x="859313" y="9222412"/>
            <a:ext cx="1633781" cy="400110"/>
          </a:xfrm>
          <a:prstGeom prst="rect">
            <a:avLst/>
          </a:prstGeom>
          <a:noFill/>
        </p:spPr>
        <p:txBody>
          <a:bodyPr wrap="none" rtlCol="0">
            <a:spAutoFit/>
          </a:bodyPr>
          <a:lstStyle/>
          <a:p>
            <a:r>
              <a:rPr lang="pt-BR" sz="1000" dirty="0">
                <a:solidFill>
                  <a:schemeClr val="bg1"/>
                </a:solidFill>
              </a:rPr>
              <a:t>Template offered by Livelo</a:t>
            </a:r>
          </a:p>
          <a:p>
            <a:r>
              <a:rPr lang="pt-BR" sz="1000" dirty="0">
                <a:solidFill>
                  <a:schemeClr val="bg1"/>
                </a:solidFill>
              </a:rPr>
              <a:t>www.livelo.com.br</a:t>
            </a:r>
          </a:p>
        </p:txBody>
      </p:sp>
      <p:sp>
        <p:nvSpPr>
          <p:cNvPr id="11" name="CaixaDeTexto 10">
            <a:extLst>
              <a:ext uri="{FF2B5EF4-FFF2-40B4-BE49-F238E27FC236}">
                <a16:creationId xmlns:a16="http://schemas.microsoft.com/office/drawing/2014/main" id="{618D7EDC-A4BA-A58A-D303-E4AF09A1A635}"/>
              </a:ext>
            </a:extLst>
          </p:cNvPr>
          <p:cNvSpPr txBox="1"/>
          <p:nvPr/>
        </p:nvSpPr>
        <p:spPr>
          <a:xfrm>
            <a:off x="690998" y="3767444"/>
            <a:ext cx="5591269" cy="400110"/>
          </a:xfrm>
          <a:prstGeom prst="rect">
            <a:avLst/>
          </a:prstGeom>
          <a:noFill/>
        </p:spPr>
        <p:txBody>
          <a:bodyPr wrap="square" rtlCol="0">
            <a:spAutoFit/>
          </a:bodyPr>
          <a:lstStyle/>
          <a:p>
            <a:r>
              <a:rPr lang="pt-BR" sz="800" dirty="0"/>
              <a:t>Comments:</a:t>
            </a:r>
          </a:p>
          <a:p>
            <a:r>
              <a:rPr lang="pt-BR" sz="600" b="0" i="0" dirty="0">
                <a:effectLst/>
              </a:rPr>
              <a:t>Lorem ipsum dolor sit amet, consectetur adipiscing elit. Vivamus lacinia odio vitae vestibulum vestíbulo. Cras venenatis euismod malesuada. Nulla facilisi. Sed ut perspiciatis unde omnis iste natus error sit</a:t>
            </a:r>
            <a:endParaRPr lang="pt-BR" sz="600" dirty="0"/>
          </a:p>
        </p:txBody>
      </p:sp>
      <p:sp>
        <p:nvSpPr>
          <p:cNvPr id="15" name="CaixaDeTexto 14">
            <a:extLst>
              <a:ext uri="{FF2B5EF4-FFF2-40B4-BE49-F238E27FC236}">
                <a16:creationId xmlns:a16="http://schemas.microsoft.com/office/drawing/2014/main" id="{52C2673D-A710-499D-E0E9-D1289B25EB1C}"/>
              </a:ext>
            </a:extLst>
          </p:cNvPr>
          <p:cNvSpPr txBox="1"/>
          <p:nvPr/>
        </p:nvSpPr>
        <p:spPr>
          <a:xfrm>
            <a:off x="2197567" y="4805544"/>
            <a:ext cx="2462868" cy="276999"/>
          </a:xfrm>
          <a:prstGeom prst="rect">
            <a:avLst/>
          </a:prstGeom>
          <a:noFill/>
        </p:spPr>
        <p:txBody>
          <a:bodyPr wrap="square" rtlCol="0">
            <a:spAutoFit/>
          </a:bodyPr>
          <a:lstStyle/>
          <a:p>
            <a:pPr algn="ctr"/>
            <a:r>
              <a:rPr lang="en-US" sz="1200" b="1" dirty="0"/>
              <a:t>Top successful areas</a:t>
            </a:r>
          </a:p>
        </p:txBody>
      </p:sp>
      <p:sp>
        <p:nvSpPr>
          <p:cNvPr id="18" name="CaixaDeTexto 17">
            <a:extLst>
              <a:ext uri="{FF2B5EF4-FFF2-40B4-BE49-F238E27FC236}">
                <a16:creationId xmlns:a16="http://schemas.microsoft.com/office/drawing/2014/main" id="{83DBAB21-A8A9-146A-D5D6-DB540B9F377D}"/>
              </a:ext>
            </a:extLst>
          </p:cNvPr>
          <p:cNvSpPr txBox="1"/>
          <p:nvPr/>
        </p:nvSpPr>
        <p:spPr>
          <a:xfrm>
            <a:off x="690998" y="7992933"/>
            <a:ext cx="5591269" cy="400110"/>
          </a:xfrm>
          <a:prstGeom prst="rect">
            <a:avLst/>
          </a:prstGeom>
          <a:noFill/>
        </p:spPr>
        <p:txBody>
          <a:bodyPr wrap="square" rtlCol="0">
            <a:spAutoFit/>
          </a:bodyPr>
          <a:lstStyle/>
          <a:p>
            <a:r>
              <a:rPr lang="pt-BR" sz="800" dirty="0"/>
              <a:t>Comments:</a:t>
            </a:r>
          </a:p>
          <a:p>
            <a:r>
              <a:rPr lang="pt-BR" sz="600" b="0" i="0" dirty="0">
                <a:effectLst/>
              </a:rPr>
              <a:t>Lorem ipsum dolor sit amet, consectetur adipiscing elit. Vivamus lacinia odio vitae vestibulum erro. Cras venenatis euismod malesuada. Nulla facilisi. Sed ut perspiciatis unde omnis iste natus error sit</a:t>
            </a:r>
            <a:endParaRPr lang="pt-BR" sz="600" dirty="0"/>
          </a:p>
        </p:txBody>
      </p:sp>
    </p:spTree>
    <p:extLst>
      <p:ext uri="{BB962C8B-B14F-4D97-AF65-F5344CB8AC3E}">
        <p14:creationId xmlns:p14="http://schemas.microsoft.com/office/powerpoint/2010/main" val="40893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4062C"/>
        </a:solidFill>
        <a:effectLst/>
      </p:bgPr>
    </p:bg>
    <p:spTree>
      <p:nvGrpSpPr>
        <p:cNvPr id="1" name="">
          <a:extLst>
            <a:ext uri="{FF2B5EF4-FFF2-40B4-BE49-F238E27FC236}">
              <a16:creationId xmlns:a16="http://schemas.microsoft.com/office/drawing/2014/main" id="{EAADE8DE-CBBB-17AD-AC7E-9D9E0C0F2932}"/>
            </a:ext>
          </a:extLst>
        </p:cNvPr>
        <p:cNvGrpSpPr/>
        <p:nvPr/>
      </p:nvGrpSpPr>
      <p:grpSpPr>
        <a:xfrm>
          <a:off x="0" y="0"/>
          <a:ext cx="0" cy="0"/>
          <a:chOff x="0" y="0"/>
          <a:chExt cx="0" cy="0"/>
        </a:xfrm>
      </p:grpSpPr>
      <p:sp>
        <p:nvSpPr>
          <p:cNvPr id="28" name="Seta: para a Direita 27">
            <a:extLst>
              <a:ext uri="{FF2B5EF4-FFF2-40B4-BE49-F238E27FC236}">
                <a16:creationId xmlns:a16="http://schemas.microsoft.com/office/drawing/2014/main" id="{D2DAA272-DBEB-8AF5-6768-8030FAE6D759}"/>
              </a:ext>
            </a:extLst>
          </p:cNvPr>
          <p:cNvSpPr/>
          <p:nvPr/>
        </p:nvSpPr>
        <p:spPr>
          <a:xfrm rot="10800000">
            <a:off x="4656667" y="5201664"/>
            <a:ext cx="2201333" cy="589573"/>
          </a:xfrm>
          <a:prstGeom prst="rightArrow">
            <a:avLst>
              <a:gd name="adj1" fmla="val 77285"/>
              <a:gd name="adj2" fmla="val 50000"/>
            </a:avLst>
          </a:prstGeom>
          <a:solidFill>
            <a:srgbClr val="FF0A8C"/>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2" name="Retângulo 31">
            <a:extLst>
              <a:ext uri="{FF2B5EF4-FFF2-40B4-BE49-F238E27FC236}">
                <a16:creationId xmlns:a16="http://schemas.microsoft.com/office/drawing/2014/main" id="{501165A2-073C-4731-5D4B-801DF7C811C4}"/>
              </a:ext>
            </a:extLst>
          </p:cNvPr>
          <p:cNvSpPr/>
          <p:nvPr/>
        </p:nvSpPr>
        <p:spPr>
          <a:xfrm>
            <a:off x="440268" y="365612"/>
            <a:ext cx="5977466" cy="2167893"/>
          </a:xfrm>
          <a:prstGeom prst="rect">
            <a:avLst/>
          </a:prstGeom>
          <a:solidFill>
            <a:schemeClr val="bg1"/>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3" name="CaixaDeTexto 32">
            <a:extLst>
              <a:ext uri="{FF2B5EF4-FFF2-40B4-BE49-F238E27FC236}">
                <a16:creationId xmlns:a16="http://schemas.microsoft.com/office/drawing/2014/main" id="{5AEC97A9-589B-08F1-4C51-0A27F41D88EC}"/>
              </a:ext>
            </a:extLst>
          </p:cNvPr>
          <p:cNvSpPr txBox="1"/>
          <p:nvPr/>
        </p:nvSpPr>
        <p:spPr>
          <a:xfrm>
            <a:off x="2169059" y="423480"/>
            <a:ext cx="2519885" cy="276999"/>
          </a:xfrm>
          <a:prstGeom prst="rect">
            <a:avLst/>
          </a:prstGeom>
          <a:noFill/>
        </p:spPr>
        <p:txBody>
          <a:bodyPr wrap="square" rtlCol="0">
            <a:spAutoFit/>
          </a:bodyPr>
          <a:lstStyle/>
          <a:p>
            <a:pPr algn="ctr"/>
            <a:r>
              <a:rPr lang="en-US" sz="1200" b="1" dirty="0"/>
              <a:t>Insights</a:t>
            </a:r>
          </a:p>
        </p:txBody>
      </p:sp>
      <p:pic>
        <p:nvPicPr>
          <p:cNvPr id="2" name="Gráfico 7">
            <a:extLst>
              <a:ext uri="{FF2B5EF4-FFF2-40B4-BE49-F238E27FC236}">
                <a16:creationId xmlns:a16="http://schemas.microsoft.com/office/drawing/2014/main" id="{835280E4-E86B-2E08-3BC5-AAB91AC3F982}"/>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9713" t="30386" r="69164" b="28840"/>
          <a:stretch/>
        </p:blipFill>
        <p:spPr>
          <a:xfrm>
            <a:off x="390082" y="9142267"/>
            <a:ext cx="509691" cy="522434"/>
          </a:xfrm>
          <a:prstGeom prst="rect">
            <a:avLst/>
          </a:prstGeom>
        </p:spPr>
      </p:pic>
      <p:sp>
        <p:nvSpPr>
          <p:cNvPr id="3" name="CaixaDeTexto 2">
            <a:extLst>
              <a:ext uri="{FF2B5EF4-FFF2-40B4-BE49-F238E27FC236}">
                <a16:creationId xmlns:a16="http://schemas.microsoft.com/office/drawing/2014/main" id="{160ACC32-F2AB-4A26-BACD-CC7B6AC15A61}"/>
              </a:ext>
            </a:extLst>
          </p:cNvPr>
          <p:cNvSpPr txBox="1"/>
          <p:nvPr/>
        </p:nvSpPr>
        <p:spPr>
          <a:xfrm>
            <a:off x="859313" y="9222412"/>
            <a:ext cx="1633781" cy="400110"/>
          </a:xfrm>
          <a:prstGeom prst="rect">
            <a:avLst/>
          </a:prstGeom>
          <a:noFill/>
        </p:spPr>
        <p:txBody>
          <a:bodyPr wrap="none" rtlCol="0">
            <a:spAutoFit/>
          </a:bodyPr>
          <a:lstStyle/>
          <a:p>
            <a:r>
              <a:rPr lang="pt-BR" sz="1000" dirty="0">
                <a:solidFill>
                  <a:schemeClr val="bg1"/>
                </a:solidFill>
              </a:rPr>
              <a:t>Template offered by Livelo</a:t>
            </a:r>
          </a:p>
          <a:p>
            <a:r>
              <a:rPr lang="pt-BR" sz="1000" dirty="0">
                <a:solidFill>
                  <a:schemeClr val="bg1"/>
                </a:solidFill>
              </a:rPr>
              <a:t>www.livelo.com.br</a:t>
            </a:r>
          </a:p>
        </p:txBody>
      </p:sp>
      <p:graphicFrame>
        <p:nvGraphicFramePr>
          <p:cNvPr id="5" name="Gráfico 4">
            <a:extLst>
              <a:ext uri="{FF2B5EF4-FFF2-40B4-BE49-F238E27FC236}">
                <a16:creationId xmlns:a16="http://schemas.microsoft.com/office/drawing/2014/main" id="{C20BDC93-3F05-0149-6922-8B80FD1C4920}"/>
              </a:ext>
            </a:extLst>
          </p:cNvPr>
          <p:cNvGraphicFramePr/>
          <p:nvPr>
            <p:extLst>
              <p:ext uri="{D42A27DB-BD31-4B8C-83A1-F6EECF244321}">
                <p14:modId xmlns:p14="http://schemas.microsoft.com/office/powerpoint/2010/main" val="1291917057"/>
              </p:ext>
            </p:extLst>
          </p:nvPr>
        </p:nvGraphicFramePr>
        <p:xfrm>
          <a:off x="420543" y="723486"/>
          <a:ext cx="2052551" cy="170179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Gráfico 8">
            <a:extLst>
              <a:ext uri="{FF2B5EF4-FFF2-40B4-BE49-F238E27FC236}">
                <a16:creationId xmlns:a16="http://schemas.microsoft.com/office/drawing/2014/main" id="{3DAE496B-6FA0-A85A-4788-6D4512C0BFC9}"/>
              </a:ext>
            </a:extLst>
          </p:cNvPr>
          <p:cNvGraphicFramePr/>
          <p:nvPr>
            <p:extLst>
              <p:ext uri="{D42A27DB-BD31-4B8C-83A1-F6EECF244321}">
                <p14:modId xmlns:p14="http://schemas.microsoft.com/office/powerpoint/2010/main" val="2626343785"/>
              </p:ext>
            </p:extLst>
          </p:nvPr>
        </p:nvGraphicFramePr>
        <p:xfrm>
          <a:off x="2405859" y="723486"/>
          <a:ext cx="2052551" cy="170179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0" name="Gráfico 9">
            <a:extLst>
              <a:ext uri="{FF2B5EF4-FFF2-40B4-BE49-F238E27FC236}">
                <a16:creationId xmlns:a16="http://schemas.microsoft.com/office/drawing/2014/main" id="{D5AA2088-B85F-E588-E918-4A622EAB1366}"/>
              </a:ext>
            </a:extLst>
          </p:cNvPr>
          <p:cNvGraphicFramePr/>
          <p:nvPr>
            <p:extLst>
              <p:ext uri="{D42A27DB-BD31-4B8C-83A1-F6EECF244321}">
                <p14:modId xmlns:p14="http://schemas.microsoft.com/office/powerpoint/2010/main" val="3233810457"/>
              </p:ext>
            </p:extLst>
          </p:nvPr>
        </p:nvGraphicFramePr>
        <p:xfrm>
          <a:off x="4432418" y="723486"/>
          <a:ext cx="2052551" cy="1701792"/>
        </p:xfrm>
        <a:graphic>
          <a:graphicData uri="http://schemas.openxmlformats.org/drawingml/2006/chart">
            <c:chart xmlns:c="http://schemas.openxmlformats.org/drawingml/2006/chart" xmlns:r="http://schemas.openxmlformats.org/officeDocument/2006/relationships" r:id="rId7"/>
          </a:graphicData>
        </a:graphic>
      </p:graphicFrame>
      <p:sp>
        <p:nvSpPr>
          <p:cNvPr id="16" name="Balão de Fala: Retângulo com Cantos Arredondados 15">
            <a:extLst>
              <a:ext uri="{FF2B5EF4-FFF2-40B4-BE49-F238E27FC236}">
                <a16:creationId xmlns:a16="http://schemas.microsoft.com/office/drawing/2014/main" id="{C88A6CA6-0708-C915-D903-96507AE58376}"/>
              </a:ext>
            </a:extLst>
          </p:cNvPr>
          <p:cNvSpPr/>
          <p:nvPr/>
        </p:nvSpPr>
        <p:spPr>
          <a:xfrm>
            <a:off x="420542" y="2755491"/>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dirty="0"/>
              <a:t>&lt;Use these cards to bring relevant insights to the report. Share data if possible.&gt;</a:t>
            </a:r>
          </a:p>
        </p:txBody>
      </p:sp>
      <p:sp>
        <p:nvSpPr>
          <p:cNvPr id="21" name="Balão de Fala: Retângulo com Cantos Arredondados 20">
            <a:extLst>
              <a:ext uri="{FF2B5EF4-FFF2-40B4-BE49-F238E27FC236}">
                <a16:creationId xmlns:a16="http://schemas.microsoft.com/office/drawing/2014/main" id="{98C3518E-65F7-205A-987E-940DD38FA9FD}"/>
              </a:ext>
            </a:extLst>
          </p:cNvPr>
          <p:cNvSpPr/>
          <p:nvPr/>
        </p:nvSpPr>
        <p:spPr>
          <a:xfrm>
            <a:off x="2469475" y="2755491"/>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0" i="0" dirty="0">
                <a:effectLst/>
              </a:rPr>
              <a:t>Lorem ipsum dolor sit amet, consectetur adipiscing elit. Vivamus lacinia odio vitae vestibulum vestibulum. Cras venenatis euismod malesuada. Nulla facilisi. Sed ut perspiciatis unde omnis iste natus error sit</a:t>
            </a:r>
            <a:endParaRPr lang="pt-BR" sz="600" dirty="0"/>
          </a:p>
        </p:txBody>
      </p:sp>
      <p:sp>
        <p:nvSpPr>
          <p:cNvPr id="22" name="Balão de Fala: Retângulo com Cantos Arredondados 21">
            <a:extLst>
              <a:ext uri="{FF2B5EF4-FFF2-40B4-BE49-F238E27FC236}">
                <a16:creationId xmlns:a16="http://schemas.microsoft.com/office/drawing/2014/main" id="{2345BB6C-A7AD-0CD2-8197-EE302AB5C7E5}"/>
              </a:ext>
            </a:extLst>
          </p:cNvPr>
          <p:cNvSpPr/>
          <p:nvPr/>
        </p:nvSpPr>
        <p:spPr>
          <a:xfrm>
            <a:off x="4518409" y="2755491"/>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600" b="0" i="0" dirty="0">
                <a:effectLst/>
              </a:rPr>
              <a:t>Lorem ipsum dolor sit amet, consectetur adipiscing elit. Vivamus lacinia odio vitae vestibulum vestibulum. Cras venenatis euismod malesuada. Nulla facilisi. Sed ut perspiciatis unde omnis iste natus error sit</a:t>
            </a:r>
            <a:endParaRPr lang="pt-BR" sz="600" dirty="0"/>
          </a:p>
          <a:p>
            <a:pPr algn="ctr"/>
            <a:endParaRPr lang="pt-BR" sz="600" dirty="0"/>
          </a:p>
        </p:txBody>
      </p:sp>
      <p:sp>
        <p:nvSpPr>
          <p:cNvPr id="23" name="Balão de Fala: Retângulo com Cantos Arredondados 22">
            <a:extLst>
              <a:ext uri="{FF2B5EF4-FFF2-40B4-BE49-F238E27FC236}">
                <a16:creationId xmlns:a16="http://schemas.microsoft.com/office/drawing/2014/main" id="{BC544E24-AC77-65C2-44B3-250575E2D31A}"/>
              </a:ext>
            </a:extLst>
          </p:cNvPr>
          <p:cNvSpPr/>
          <p:nvPr/>
        </p:nvSpPr>
        <p:spPr>
          <a:xfrm>
            <a:off x="420542" y="3920037"/>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600" b="0" i="0" dirty="0">
                <a:effectLst/>
              </a:rPr>
              <a:t>Lorem ipsum dolor sit amet, consectetur adipiscing elit. Vivamus lacinia odio vitae vestibulum vestibulum. Cras venenatis euismod malesuada. Nulla facilisi. Sed ut perspiciatis unde omnis iste natus error sit</a:t>
            </a:r>
            <a:endParaRPr lang="pt-BR" sz="600" dirty="0"/>
          </a:p>
        </p:txBody>
      </p:sp>
      <p:sp>
        <p:nvSpPr>
          <p:cNvPr id="24" name="Balão de Fala: Retângulo com Cantos Arredondados 23">
            <a:extLst>
              <a:ext uri="{FF2B5EF4-FFF2-40B4-BE49-F238E27FC236}">
                <a16:creationId xmlns:a16="http://schemas.microsoft.com/office/drawing/2014/main" id="{261D5942-216D-03D5-A0EB-0ADBE27E5418}"/>
              </a:ext>
            </a:extLst>
          </p:cNvPr>
          <p:cNvSpPr/>
          <p:nvPr/>
        </p:nvSpPr>
        <p:spPr>
          <a:xfrm>
            <a:off x="2469474" y="3920037"/>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600" b="0" i="0" dirty="0">
                <a:effectLst/>
              </a:rPr>
              <a:t>Lorem ipsum dolor sit amet, consectetur adipiscing elit. Vivamus lacinia odio vitae vestibulum vestibulum. Cras venenatis euismod malesuada. Nulla facilisi. Sed ut perspiciatis unde omnis iste natus error sit</a:t>
            </a:r>
            <a:endParaRPr lang="pt-BR" sz="600" dirty="0"/>
          </a:p>
        </p:txBody>
      </p:sp>
      <p:sp>
        <p:nvSpPr>
          <p:cNvPr id="25" name="Balão de Fala: Retângulo com Cantos Arredondados 24">
            <a:extLst>
              <a:ext uri="{FF2B5EF4-FFF2-40B4-BE49-F238E27FC236}">
                <a16:creationId xmlns:a16="http://schemas.microsoft.com/office/drawing/2014/main" id="{D3AF41BF-5A58-F483-1216-44EB62961DA4}"/>
              </a:ext>
            </a:extLst>
          </p:cNvPr>
          <p:cNvSpPr/>
          <p:nvPr/>
        </p:nvSpPr>
        <p:spPr>
          <a:xfrm>
            <a:off x="4518406" y="3920037"/>
            <a:ext cx="1899325" cy="963520"/>
          </a:xfrm>
          <a:prstGeom prst="wedgeRoundRectCallout">
            <a:avLst>
              <a:gd name="adj1" fmla="val -21408"/>
              <a:gd name="adj2" fmla="val -49904"/>
              <a:gd name="adj3" fmla="val 16667"/>
            </a:avLst>
          </a:prstGeom>
          <a:solidFill>
            <a:srgbClr val="04062C">
              <a:alpha val="74902"/>
            </a:srgbClr>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600" b="0" i="0" dirty="0">
                <a:effectLst/>
              </a:rPr>
              <a:t>Lorem ipsum dolor sit amet, consectetur adipiscing elit. Vivamus lacinia odio vitae vestibulum vestibulum. Cras venenatis euismod malesuada. Nulla facilisi. Sed ut perspiciatis unde omnis iste natus error sit</a:t>
            </a:r>
            <a:endParaRPr lang="pt-BR" sz="600" dirty="0"/>
          </a:p>
        </p:txBody>
      </p:sp>
      <p:sp>
        <p:nvSpPr>
          <p:cNvPr id="26" name="CaixaDeTexto 25">
            <a:extLst>
              <a:ext uri="{FF2B5EF4-FFF2-40B4-BE49-F238E27FC236}">
                <a16:creationId xmlns:a16="http://schemas.microsoft.com/office/drawing/2014/main" id="{DC43155A-1490-B5B9-4CDE-0B8BCB1E33E5}"/>
              </a:ext>
            </a:extLst>
          </p:cNvPr>
          <p:cNvSpPr txBox="1"/>
          <p:nvPr/>
        </p:nvSpPr>
        <p:spPr>
          <a:xfrm>
            <a:off x="204278" y="5357951"/>
            <a:ext cx="4577631" cy="276999"/>
          </a:xfrm>
          <a:prstGeom prst="rect">
            <a:avLst/>
          </a:prstGeom>
          <a:noFill/>
        </p:spPr>
        <p:txBody>
          <a:bodyPr wrap="square" rtlCol="0">
            <a:spAutoFit/>
          </a:bodyPr>
          <a:lstStyle/>
          <a:p>
            <a:pPr algn="ctr"/>
            <a:r>
              <a:rPr lang="en-US" sz="1200" b="1" i="0" dirty="0">
                <a:solidFill>
                  <a:srgbClr val="FF0A8C"/>
                </a:solidFill>
                <a:effectLst/>
              </a:rPr>
              <a:t>What have we done to improve the developers' experience?</a:t>
            </a:r>
            <a:endParaRPr lang="en-US" sz="1200" b="1" dirty="0">
              <a:solidFill>
                <a:srgbClr val="FF0A8C"/>
              </a:solidFill>
            </a:endParaRPr>
          </a:p>
        </p:txBody>
      </p:sp>
      <p:sp>
        <p:nvSpPr>
          <p:cNvPr id="30" name="CaixaDeTexto 29">
            <a:extLst>
              <a:ext uri="{FF2B5EF4-FFF2-40B4-BE49-F238E27FC236}">
                <a16:creationId xmlns:a16="http://schemas.microsoft.com/office/drawing/2014/main" id="{4BE349E4-72CF-6F66-877F-34F7EC8BB3F3}"/>
              </a:ext>
            </a:extLst>
          </p:cNvPr>
          <p:cNvSpPr txBox="1"/>
          <p:nvPr/>
        </p:nvSpPr>
        <p:spPr>
          <a:xfrm>
            <a:off x="2785050" y="7374319"/>
            <a:ext cx="3534443" cy="276999"/>
          </a:xfrm>
          <a:prstGeom prst="rect">
            <a:avLst/>
          </a:prstGeom>
          <a:noFill/>
        </p:spPr>
        <p:txBody>
          <a:bodyPr wrap="square" rtlCol="0">
            <a:spAutoFit/>
          </a:bodyPr>
          <a:lstStyle/>
          <a:p>
            <a:pPr algn="ctr"/>
            <a:r>
              <a:rPr lang="en-US" sz="1200" b="1" i="0" dirty="0">
                <a:solidFill>
                  <a:srgbClr val="FF0A8C"/>
                </a:solidFill>
                <a:effectLst/>
              </a:rPr>
              <a:t>Upcoming features and improvements</a:t>
            </a:r>
            <a:endParaRPr lang="en-US" sz="1200" b="1" dirty="0">
              <a:solidFill>
                <a:srgbClr val="FF0A8C"/>
              </a:solidFill>
            </a:endParaRPr>
          </a:p>
        </p:txBody>
      </p:sp>
      <p:sp>
        <p:nvSpPr>
          <p:cNvPr id="31" name="Seta: para a Direita 30">
            <a:extLst>
              <a:ext uri="{FF2B5EF4-FFF2-40B4-BE49-F238E27FC236}">
                <a16:creationId xmlns:a16="http://schemas.microsoft.com/office/drawing/2014/main" id="{D345BDCD-8A95-DAB0-0284-2F79D7C08AD6}"/>
              </a:ext>
            </a:extLst>
          </p:cNvPr>
          <p:cNvSpPr/>
          <p:nvPr/>
        </p:nvSpPr>
        <p:spPr>
          <a:xfrm>
            <a:off x="0" y="7218033"/>
            <a:ext cx="3056467" cy="589573"/>
          </a:xfrm>
          <a:prstGeom prst="rightArrow">
            <a:avLst>
              <a:gd name="adj1" fmla="val 77285"/>
              <a:gd name="adj2" fmla="val 50000"/>
            </a:avLst>
          </a:prstGeom>
          <a:solidFill>
            <a:srgbClr val="FF0A8C"/>
          </a:solidFill>
          <a:ln>
            <a:solidFill>
              <a:srgbClr val="FF0A8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5" name="CaixaDeTexto 34">
            <a:extLst>
              <a:ext uri="{FF2B5EF4-FFF2-40B4-BE49-F238E27FC236}">
                <a16:creationId xmlns:a16="http://schemas.microsoft.com/office/drawing/2014/main" id="{745123E6-C098-7D26-6753-79F6FEA54104}"/>
              </a:ext>
            </a:extLst>
          </p:cNvPr>
          <p:cNvSpPr txBox="1"/>
          <p:nvPr/>
        </p:nvSpPr>
        <p:spPr>
          <a:xfrm>
            <a:off x="367326" y="5770658"/>
            <a:ext cx="3097644" cy="1015663"/>
          </a:xfrm>
          <a:prstGeom prst="rect">
            <a:avLst/>
          </a:prstGeom>
          <a:noFill/>
        </p:spPr>
        <p:txBody>
          <a:bodyPr wrap="square" rtlCol="0">
            <a:spAutoFit/>
          </a:bodyPr>
          <a:lstStyle/>
          <a:p>
            <a:pPr algn="l">
              <a:spcAft>
                <a:spcPts val="600"/>
              </a:spcAft>
              <a:buFont typeface="Arial" panose="020B0604020202020204" pitchFamily="34" charset="0"/>
              <a:buChar char="•"/>
            </a:pPr>
            <a:r>
              <a:rPr lang="pt-BR" sz="800" b="0" i="0" dirty="0">
                <a:solidFill>
                  <a:schemeClr val="bg1"/>
                </a:solidFill>
                <a:effectLst/>
              </a:rPr>
              <a:t>Lorem ipsum dolor sit amet, consectetur adipiscing elit.</a:t>
            </a:r>
          </a:p>
          <a:p>
            <a:pPr algn="l">
              <a:spcAft>
                <a:spcPts val="600"/>
              </a:spcAft>
              <a:buFont typeface="Arial" panose="020B0604020202020204" pitchFamily="34" charset="0"/>
              <a:buChar char="•"/>
            </a:pPr>
            <a:r>
              <a:rPr lang="pt-BR" sz="800" b="0" i="0" dirty="0">
                <a:solidFill>
                  <a:schemeClr val="bg1"/>
                </a:solidFill>
                <a:effectLst/>
              </a:rPr>
              <a:t>Vivamus lacinia odio vitae vestibulum vestibulum.</a:t>
            </a:r>
          </a:p>
          <a:p>
            <a:pPr algn="l">
              <a:spcAft>
                <a:spcPts val="600"/>
              </a:spcAft>
              <a:buFont typeface="Arial" panose="020B0604020202020204" pitchFamily="34" charset="0"/>
              <a:buChar char="•"/>
            </a:pPr>
            <a:r>
              <a:rPr lang="pt-BR" sz="800" b="0" i="0" dirty="0">
                <a:solidFill>
                  <a:schemeClr val="bg1"/>
                </a:solidFill>
                <a:effectLst/>
              </a:rPr>
              <a:t>Cras venenatis euismod malesuada.</a:t>
            </a:r>
          </a:p>
          <a:p>
            <a:pPr algn="l">
              <a:spcAft>
                <a:spcPts val="600"/>
              </a:spcAft>
              <a:buFont typeface="Arial" panose="020B0604020202020204" pitchFamily="34" charset="0"/>
              <a:buChar char="•"/>
            </a:pPr>
            <a:r>
              <a:rPr lang="pt-BR" sz="800" b="0" i="0" dirty="0">
                <a:solidFill>
                  <a:schemeClr val="bg1"/>
                </a:solidFill>
                <a:effectLst/>
              </a:rPr>
              <a:t>Nulla facilisi. Sed ut perspiciatis unde omnis iste natus.</a:t>
            </a:r>
          </a:p>
          <a:p>
            <a:pPr algn="l">
              <a:spcAft>
                <a:spcPts val="600"/>
              </a:spcAft>
              <a:buFont typeface="Arial" panose="020B0604020202020204" pitchFamily="34" charset="0"/>
              <a:buChar char="•"/>
            </a:pPr>
            <a:r>
              <a:rPr lang="pt-BR" sz="800" b="0" i="0" dirty="0">
                <a:solidFill>
                  <a:schemeClr val="bg1"/>
                </a:solidFill>
                <a:effectLst/>
              </a:rPr>
              <a:t>Nemo enim ipsam voluptatem quia voluptas sit aspernatur.</a:t>
            </a:r>
          </a:p>
        </p:txBody>
      </p:sp>
      <p:sp>
        <p:nvSpPr>
          <p:cNvPr id="36" name="CaixaDeTexto 35">
            <a:extLst>
              <a:ext uri="{FF2B5EF4-FFF2-40B4-BE49-F238E27FC236}">
                <a16:creationId xmlns:a16="http://schemas.microsoft.com/office/drawing/2014/main" id="{6A4DA7F9-129E-33A5-5D37-4013C5938E2C}"/>
              </a:ext>
            </a:extLst>
          </p:cNvPr>
          <p:cNvSpPr txBox="1"/>
          <p:nvPr/>
        </p:nvSpPr>
        <p:spPr>
          <a:xfrm>
            <a:off x="3140122" y="7857523"/>
            <a:ext cx="3097644" cy="1015663"/>
          </a:xfrm>
          <a:prstGeom prst="rect">
            <a:avLst/>
          </a:prstGeom>
          <a:noFill/>
        </p:spPr>
        <p:txBody>
          <a:bodyPr wrap="square" rtlCol="0">
            <a:spAutoFit/>
          </a:bodyPr>
          <a:lstStyle/>
          <a:p>
            <a:pPr algn="l">
              <a:spcAft>
                <a:spcPts val="600"/>
              </a:spcAft>
              <a:buFont typeface="Arial" panose="020B0604020202020204" pitchFamily="34" charset="0"/>
              <a:buChar char="•"/>
            </a:pPr>
            <a:r>
              <a:rPr lang="pt-BR" sz="800" b="0" i="0" dirty="0">
                <a:solidFill>
                  <a:schemeClr val="bg1"/>
                </a:solidFill>
                <a:effectLst/>
              </a:rPr>
              <a:t>Lorem ipsum dolor sit amet, consectetur adipiscing elit.</a:t>
            </a:r>
          </a:p>
          <a:p>
            <a:pPr algn="l">
              <a:spcAft>
                <a:spcPts val="600"/>
              </a:spcAft>
              <a:buFont typeface="Arial" panose="020B0604020202020204" pitchFamily="34" charset="0"/>
              <a:buChar char="•"/>
            </a:pPr>
            <a:r>
              <a:rPr lang="pt-BR" sz="800" b="0" i="0" dirty="0">
                <a:solidFill>
                  <a:schemeClr val="bg1"/>
                </a:solidFill>
                <a:effectLst/>
              </a:rPr>
              <a:t>Vivamus lacinia odio vitae vestibulum vestibulum.</a:t>
            </a:r>
          </a:p>
          <a:p>
            <a:pPr algn="l">
              <a:spcAft>
                <a:spcPts val="600"/>
              </a:spcAft>
              <a:buFont typeface="Arial" panose="020B0604020202020204" pitchFamily="34" charset="0"/>
              <a:buChar char="•"/>
            </a:pPr>
            <a:r>
              <a:rPr lang="pt-BR" sz="800" b="0" i="0" dirty="0">
                <a:solidFill>
                  <a:schemeClr val="bg1"/>
                </a:solidFill>
                <a:effectLst/>
              </a:rPr>
              <a:t>Cras venenatis euismod malesuada.</a:t>
            </a:r>
          </a:p>
          <a:p>
            <a:pPr algn="l">
              <a:spcAft>
                <a:spcPts val="600"/>
              </a:spcAft>
              <a:buFont typeface="Arial" panose="020B0604020202020204" pitchFamily="34" charset="0"/>
              <a:buChar char="•"/>
            </a:pPr>
            <a:r>
              <a:rPr lang="pt-BR" sz="800" b="0" i="0" dirty="0">
                <a:solidFill>
                  <a:schemeClr val="bg1"/>
                </a:solidFill>
                <a:effectLst/>
              </a:rPr>
              <a:t>Nulla facilisi. Sed ut perspiciatis unde omnis iste natus.</a:t>
            </a:r>
          </a:p>
          <a:p>
            <a:pPr algn="l">
              <a:spcAft>
                <a:spcPts val="600"/>
              </a:spcAft>
              <a:buFont typeface="Arial" panose="020B0604020202020204" pitchFamily="34" charset="0"/>
              <a:buChar char="•"/>
            </a:pPr>
            <a:r>
              <a:rPr lang="pt-BR" sz="800" b="0" i="0" dirty="0">
                <a:solidFill>
                  <a:schemeClr val="bg1"/>
                </a:solidFill>
                <a:effectLst/>
              </a:rPr>
              <a:t>Nemo enim ipsam voluptatem quia voluptas sit aspernatur.</a:t>
            </a:r>
          </a:p>
        </p:txBody>
      </p:sp>
    </p:spTree>
    <p:extLst>
      <p:ext uri="{BB962C8B-B14F-4D97-AF65-F5344CB8AC3E}">
        <p14:creationId xmlns:p14="http://schemas.microsoft.com/office/powerpoint/2010/main" val="1676802191"/>
      </p:ext>
    </p:extLst>
  </p:cSld>
  <p:clrMapOvr>
    <a:masterClrMapping/>
  </p:clrMapOvr>
</p:sld>
</file>

<file path=ppt/theme/theme1.xml><?xml version="1.0" encoding="utf-8"?>
<a:theme xmlns:a="http://schemas.openxmlformats.org/drawingml/2006/main" name="Tema do Office">
  <a:themeElements>
    <a:clrScheme name="Tema do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o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o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282</TotalTime>
  <Words>497</Words>
  <Application>Microsoft Office PowerPoint</Application>
  <PresentationFormat>Papel A4 (210 x 297 mm)</PresentationFormat>
  <Paragraphs>54</Paragraphs>
  <Slides>3</Slides>
  <Notes>3</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3</vt:i4>
      </vt:variant>
    </vt:vector>
  </HeadingPairs>
  <TitlesOfParts>
    <vt:vector size="9" baseType="lpstr">
      <vt:lpstr>Aptos</vt:lpstr>
      <vt:lpstr>Aptos Display</vt:lpstr>
      <vt:lpstr>Arial</vt:lpstr>
      <vt:lpstr>Calibri</vt:lpstr>
      <vt:lpstr>Courier New</vt:lpstr>
      <vt:lpstr>Tema do Office</vt:lpstr>
      <vt:lpstr>Apresentação do PowerPoint</vt:lpstr>
      <vt:lpstr>Apresentação do PowerPoint</vt:lpstr>
      <vt:lpstr>Apresentação do PowerPoint</vt:lpstr>
    </vt:vector>
  </TitlesOfParts>
  <Company>Template offered by Livelo (www.livelo.com.br)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DevEx Report Template</dc:title>
  <dc:subject>DevEx Report Template</dc:subject>
  <dc:creator>Ricardo Reges Bemfica</dc:creator>
  <cp:keywords>Created by Livelo (www.livelo.com.br)</cp:keywords>
  <dc:description>This work is licensed under the Creative Commons Attribution-NonCommercial-ShareAlike 4.0 International License. You are free to share and adapt the material, provided you give appropriate credit, do not use it for commercial purposes, and distribute your contributions under the same license.</dc:description>
  <cp:lastModifiedBy>Ricardo Reges Bemfica</cp:lastModifiedBy>
  <cp:revision>10</cp:revision>
  <dcterms:created xsi:type="dcterms:W3CDTF">2025-05-02T16:57:57Z</dcterms:created>
  <dcterms:modified xsi:type="dcterms:W3CDTF">2025-05-03T00:33:46Z</dcterms:modified>
  <cp:category>Free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8e9c02c-067c-4b9e-99e0-d52e096bc891_Enabled">
    <vt:lpwstr>true</vt:lpwstr>
  </property>
  <property fmtid="{D5CDD505-2E9C-101B-9397-08002B2CF9AE}" pid="3" name="MSIP_Label_b8e9c02c-067c-4b9e-99e0-d52e096bc891_SetDate">
    <vt:lpwstr>2025-05-02T18:03:03Z</vt:lpwstr>
  </property>
  <property fmtid="{D5CDD505-2E9C-101B-9397-08002B2CF9AE}" pid="4" name="MSIP_Label_b8e9c02c-067c-4b9e-99e0-d52e096bc891_Method">
    <vt:lpwstr>Privileged</vt:lpwstr>
  </property>
  <property fmtid="{D5CDD505-2E9C-101B-9397-08002B2CF9AE}" pid="5" name="MSIP_Label_b8e9c02c-067c-4b9e-99e0-d52e096bc891_Name">
    <vt:lpwstr>Publico</vt:lpwstr>
  </property>
  <property fmtid="{D5CDD505-2E9C-101B-9397-08002B2CF9AE}" pid="6" name="MSIP_Label_b8e9c02c-067c-4b9e-99e0-d52e096bc891_SiteId">
    <vt:lpwstr>1778ae9f-6f4a-44ca-930b-327c29104576</vt:lpwstr>
  </property>
  <property fmtid="{D5CDD505-2E9C-101B-9397-08002B2CF9AE}" pid="7" name="MSIP_Label_b8e9c02c-067c-4b9e-99e0-d52e096bc891_ActionId">
    <vt:lpwstr>e58f43fe-58bb-4be7-ac1f-911599429edd</vt:lpwstr>
  </property>
  <property fmtid="{D5CDD505-2E9C-101B-9397-08002B2CF9AE}" pid="8" name="MSIP_Label_b8e9c02c-067c-4b9e-99e0-d52e096bc891_ContentBits">
    <vt:lpwstr>2</vt:lpwstr>
  </property>
  <property fmtid="{D5CDD505-2E9C-101B-9397-08002B2CF9AE}" pid="9" name="MSIP_Label_b8e9c02c-067c-4b9e-99e0-d52e096bc891_Tag">
    <vt:lpwstr>10, 0, 1, 1</vt:lpwstr>
  </property>
  <property fmtid="{D5CDD505-2E9C-101B-9397-08002B2CF9AE}" pid="10" name="ClassificationContentMarkingFooterLocations">
    <vt:lpwstr>Tema do Office:8</vt:lpwstr>
  </property>
  <property fmtid="{D5CDD505-2E9C-101B-9397-08002B2CF9AE}" pid="11" name="ClassificationContentMarkingFooterText">
    <vt:lpwstr>Nível de confidencialidade - Público</vt:lpwstr>
  </property>
</Properties>
</file>